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368" r:id="rId2"/>
    <p:sldId id="2379" r:id="rId3"/>
    <p:sldId id="2364" r:id="rId4"/>
    <p:sldId id="2235" r:id="rId5"/>
    <p:sldId id="2362" r:id="rId6"/>
    <p:sldId id="2367" r:id="rId7"/>
    <p:sldId id="2369" r:id="rId8"/>
    <p:sldId id="2363" r:id="rId9"/>
    <p:sldId id="2380" r:id="rId10"/>
    <p:sldId id="2365" r:id="rId11"/>
    <p:sldId id="2375" r:id="rId12"/>
    <p:sldId id="2372" r:id="rId13"/>
    <p:sldId id="2371" r:id="rId14"/>
    <p:sldId id="2378" r:id="rId15"/>
    <p:sldId id="2370" r:id="rId16"/>
    <p:sldId id="2376" r:id="rId17"/>
    <p:sldId id="2381" r:id="rId18"/>
    <p:sldId id="2374" r:id="rId19"/>
    <p:sldId id="2377" r:id="rId20"/>
  </p:sldIdLst>
  <p:sldSz cx="24377650" cy="13716000"/>
  <p:notesSz cx="7315200" cy="9601200"/>
  <p:defaultTextStyle>
    <a:defPPr>
      <a:defRPr lang="en-US"/>
    </a:defPPr>
    <a:lvl1pPr marL="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21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434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2651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6868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1086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1334"/>
    <a:srgbClr val="000820"/>
    <a:srgbClr val="000C28"/>
    <a:srgbClr val="5D77EB"/>
    <a:srgbClr val="1AE8DA"/>
    <a:srgbClr val="CF9600"/>
    <a:srgbClr val="F52552"/>
    <a:srgbClr val="EC72A5"/>
    <a:srgbClr val="FFC7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61" autoAdjust="0"/>
    <p:restoredTop sz="96202" autoAdjust="0"/>
  </p:normalViewPr>
  <p:slideViewPr>
    <p:cSldViewPr snapToGrid="0" snapToObjects="1">
      <p:cViewPr varScale="1">
        <p:scale>
          <a:sx n="56" d="100"/>
          <a:sy n="56" d="100"/>
        </p:scale>
        <p:origin x="444" y="114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8" d="100"/>
        <a:sy n="58" d="100"/>
      </p:scale>
      <p:origin x="0" y="0"/>
    </p:cViewPr>
  </p:sorterViewPr>
  <p:notesViewPr>
    <p:cSldViewPr snapToGrid="0" snapToObjects="1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ared\Documents\freqnew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ared\Documents\freqnew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5400" b="1" i="0" u="none" strike="noStrike" kern="1200" cap="none" spc="120" normalizeH="0" baseline="0">
                <a:solidFill>
                  <a:schemeClr val="tx1"/>
                </a:solidFill>
                <a:latin typeface="Montserrat Bold"/>
                <a:ea typeface="+mn-ea"/>
                <a:cs typeface="+mn-cs"/>
              </a:defRPr>
            </a:pPr>
            <a:r>
              <a:rPr lang="en-US" sz="5400" b="1" cap="none" dirty="0">
                <a:solidFill>
                  <a:schemeClr val="tx1"/>
                </a:solidFill>
                <a:latin typeface="Montserrat Bold"/>
              </a:rPr>
              <a:t>Array</a:t>
            </a:r>
            <a:r>
              <a:rPr lang="en-US" sz="5400" b="1" cap="none" baseline="0" dirty="0">
                <a:solidFill>
                  <a:schemeClr val="tx1"/>
                </a:solidFill>
                <a:latin typeface="Montserrat Bold"/>
              </a:rPr>
              <a:t> Length vs Frequency (Hertz)</a:t>
            </a:r>
            <a:endParaRPr lang="en-US" sz="5400" b="1" cap="none" dirty="0">
              <a:solidFill>
                <a:schemeClr val="tx1"/>
              </a:solidFill>
              <a:latin typeface="Montserrat Bold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5400" b="1" i="0" u="none" strike="noStrike" kern="1200" cap="none" spc="120" normalizeH="0" baseline="0">
              <a:solidFill>
                <a:schemeClr val="tx1"/>
              </a:solidFill>
              <a:latin typeface="Montserrat Bold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spPr>
            <a:ln w="571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Sheet1!$G$2:$G$25</c:f>
              <c:numCache>
                <c:formatCode>General</c:formatCode>
                <c:ptCount val="24"/>
                <c:pt idx="0">
                  <c:v>61</c:v>
                </c:pt>
                <c:pt idx="1">
                  <c:v>58</c:v>
                </c:pt>
                <c:pt idx="2">
                  <c:v>55</c:v>
                </c:pt>
                <c:pt idx="3">
                  <c:v>52</c:v>
                </c:pt>
                <c:pt idx="4">
                  <c:v>49</c:v>
                </c:pt>
                <c:pt idx="5">
                  <c:v>46</c:v>
                </c:pt>
                <c:pt idx="6">
                  <c:v>43</c:v>
                </c:pt>
                <c:pt idx="7">
                  <c:v>41</c:v>
                </c:pt>
                <c:pt idx="8">
                  <c:v>39</c:v>
                </c:pt>
                <c:pt idx="9">
                  <c:v>37</c:v>
                </c:pt>
                <c:pt idx="10">
                  <c:v>35</c:v>
                </c:pt>
                <c:pt idx="11">
                  <c:v>33</c:v>
                </c:pt>
                <c:pt idx="12">
                  <c:v>31</c:v>
                </c:pt>
                <c:pt idx="13">
                  <c:v>29</c:v>
                </c:pt>
                <c:pt idx="14">
                  <c:v>27</c:v>
                </c:pt>
                <c:pt idx="15">
                  <c:v>26</c:v>
                </c:pt>
                <c:pt idx="16">
                  <c:v>24</c:v>
                </c:pt>
                <c:pt idx="17">
                  <c:v>23</c:v>
                </c:pt>
                <c:pt idx="18">
                  <c:v>22</c:v>
                </c:pt>
                <c:pt idx="19">
                  <c:v>20</c:v>
                </c:pt>
                <c:pt idx="20">
                  <c:v>19</c:v>
                </c:pt>
                <c:pt idx="21">
                  <c:v>18</c:v>
                </c:pt>
                <c:pt idx="22">
                  <c:v>17</c:v>
                </c:pt>
                <c:pt idx="23">
                  <c:v>16</c:v>
                </c:pt>
              </c:numCache>
            </c:numRef>
          </c:xVal>
          <c:yVal>
            <c:numRef>
              <c:f>Sheet1!$H$2:$H$25</c:f>
              <c:numCache>
                <c:formatCode>General</c:formatCode>
                <c:ptCount val="24"/>
                <c:pt idx="0">
                  <c:v>131.1</c:v>
                </c:pt>
                <c:pt idx="1">
                  <c:v>137.9</c:v>
                </c:pt>
                <c:pt idx="2">
                  <c:v>145.5</c:v>
                </c:pt>
                <c:pt idx="3">
                  <c:v>153.9</c:v>
                </c:pt>
                <c:pt idx="4">
                  <c:v>163.19999999999999</c:v>
                </c:pt>
                <c:pt idx="5">
                  <c:v>173.9</c:v>
                </c:pt>
                <c:pt idx="6">
                  <c:v>186</c:v>
                </c:pt>
                <c:pt idx="7">
                  <c:v>195.1</c:v>
                </c:pt>
                <c:pt idx="8">
                  <c:v>205.1</c:v>
                </c:pt>
                <c:pt idx="9">
                  <c:v>216.2</c:v>
                </c:pt>
                <c:pt idx="10">
                  <c:v>228.5</c:v>
                </c:pt>
                <c:pt idx="11">
                  <c:v>242.4</c:v>
                </c:pt>
                <c:pt idx="12">
                  <c:v>258.10000000000002</c:v>
                </c:pt>
                <c:pt idx="13">
                  <c:v>275.89999999999998</c:v>
                </c:pt>
                <c:pt idx="14">
                  <c:v>296.2</c:v>
                </c:pt>
                <c:pt idx="15">
                  <c:v>307.7</c:v>
                </c:pt>
                <c:pt idx="16">
                  <c:v>333.4</c:v>
                </c:pt>
                <c:pt idx="17">
                  <c:v>347.9</c:v>
                </c:pt>
                <c:pt idx="18">
                  <c:v>363.7</c:v>
                </c:pt>
                <c:pt idx="19">
                  <c:v>400</c:v>
                </c:pt>
                <c:pt idx="20">
                  <c:v>421</c:v>
                </c:pt>
                <c:pt idx="21">
                  <c:v>444.5</c:v>
                </c:pt>
                <c:pt idx="22">
                  <c:v>470.5</c:v>
                </c:pt>
                <c:pt idx="23">
                  <c:v>500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3631-41AF-93B6-BB1E38C427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50909984"/>
        <c:axId val="450907032"/>
      </c:scatterChart>
      <c:valAx>
        <c:axId val="450909984"/>
        <c:scaling>
          <c:orientation val="minMax"/>
          <c:max val="61"/>
          <c:min val="16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44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Montserrat Bold"/>
                    <a:ea typeface="+mn-ea"/>
                    <a:cs typeface="+mn-cs"/>
                  </a:defRPr>
                </a:pPr>
                <a:r>
                  <a:rPr lang="en-US" sz="4000" b="1" cap="none" dirty="0">
                    <a:solidFill>
                      <a:schemeClr val="tx1"/>
                    </a:solidFill>
                  </a:rPr>
                  <a:t>Array</a:t>
                </a:r>
                <a:r>
                  <a:rPr lang="en-US" b="1" cap="none" dirty="0">
                    <a:solidFill>
                      <a:schemeClr val="tx1"/>
                    </a:solidFill>
                  </a:rPr>
                  <a:t> Length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44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ontserrat Bold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0907032"/>
        <c:crosses val="autoZero"/>
        <c:crossBetween val="midCat"/>
      </c:valAx>
      <c:valAx>
        <c:axId val="450907032"/>
        <c:scaling>
          <c:orientation val="minMax"/>
          <c:max val="5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4000" b="0" i="0" u="none" strike="noStrike" kern="1200" cap="none" baseline="0">
                    <a:solidFill>
                      <a:schemeClr val="tx1"/>
                    </a:solidFill>
                    <a:latin typeface="Montserrat Bold"/>
                    <a:ea typeface="+mn-ea"/>
                    <a:cs typeface="+mn-cs"/>
                  </a:defRPr>
                </a:pPr>
                <a:r>
                  <a:rPr lang="en-US" sz="4400" b="1" cap="none" dirty="0">
                    <a:solidFill>
                      <a:schemeClr val="tx1"/>
                    </a:solidFill>
                    <a:latin typeface="Montserrat Bold"/>
                  </a:rPr>
                  <a:t>Frequency</a:t>
                </a:r>
                <a:r>
                  <a:rPr lang="en-US" sz="4400" b="1" cap="none" baseline="0" dirty="0">
                    <a:solidFill>
                      <a:schemeClr val="tx1"/>
                    </a:solidFill>
                    <a:latin typeface="Montserrat Bold"/>
                  </a:rPr>
                  <a:t> (Hertz)</a:t>
                </a:r>
                <a:endParaRPr lang="en-US" sz="4400" b="1" cap="none" dirty="0">
                  <a:solidFill>
                    <a:schemeClr val="tx1"/>
                  </a:solidFill>
                  <a:latin typeface="Montserrat Bold"/>
                </a:endParaRPr>
              </a:p>
            </c:rich>
          </c:tx>
          <c:layout>
            <c:manualLayout>
              <c:xMode val="edge"/>
              <c:yMode val="edge"/>
              <c:x val="1.041938004688721E-3"/>
              <c:y val="0.3458700058326042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4000" b="0" i="0" u="none" strike="noStrike" kern="1200" cap="none" baseline="0">
                  <a:solidFill>
                    <a:schemeClr val="tx1"/>
                  </a:solidFill>
                  <a:latin typeface="Montserrat Bold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 Bold"/>
                <a:ea typeface="+mn-ea"/>
                <a:cs typeface="+mn-cs"/>
              </a:defRPr>
            </a:pPr>
            <a:endParaRPr lang="en-US"/>
          </a:p>
        </c:txPr>
        <c:crossAx val="45090998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5400" b="1" i="0" u="none" strike="noStrike" kern="1200" spc="0" baseline="0">
                <a:solidFill>
                  <a:schemeClr val="tx1"/>
                </a:solidFill>
                <a:latin typeface="Montserrat Bold"/>
                <a:ea typeface="+mn-ea"/>
                <a:cs typeface="+mn-cs"/>
              </a:defRPr>
            </a:pPr>
            <a:r>
              <a:rPr lang="en-US" sz="5400" b="1" dirty="0">
                <a:solidFill>
                  <a:schemeClr val="tx1"/>
                </a:solidFill>
                <a:latin typeface="Montserrat Bold"/>
              </a:rPr>
              <a:t>Intonation (Cents) vs Pitch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5400" b="1" i="0" u="none" strike="noStrike" kern="1200" spc="0" baseline="0">
              <a:solidFill>
                <a:schemeClr val="tx1"/>
              </a:solidFill>
              <a:latin typeface="Montserrat Bold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Sheet1!$E$2:$E$25</c:f>
              <c:strCache>
                <c:ptCount val="24"/>
                <c:pt idx="0">
                  <c:v>C3</c:v>
                </c:pt>
                <c:pt idx="1">
                  <c:v>C#3</c:v>
                </c:pt>
                <c:pt idx="2">
                  <c:v>D3</c:v>
                </c:pt>
                <c:pt idx="3">
                  <c:v>D#3</c:v>
                </c:pt>
                <c:pt idx="4">
                  <c:v>E3</c:v>
                </c:pt>
                <c:pt idx="5">
                  <c:v>F3</c:v>
                </c:pt>
                <c:pt idx="6">
                  <c:v>F#3</c:v>
                </c:pt>
                <c:pt idx="7">
                  <c:v>G3</c:v>
                </c:pt>
                <c:pt idx="8">
                  <c:v>G#3</c:v>
                </c:pt>
                <c:pt idx="9">
                  <c:v>A3</c:v>
                </c:pt>
                <c:pt idx="10">
                  <c:v>A#3</c:v>
                </c:pt>
                <c:pt idx="11">
                  <c:v>B3</c:v>
                </c:pt>
                <c:pt idx="12">
                  <c:v>C4</c:v>
                </c:pt>
                <c:pt idx="13">
                  <c:v>C#4</c:v>
                </c:pt>
                <c:pt idx="14">
                  <c:v>D4</c:v>
                </c:pt>
                <c:pt idx="15">
                  <c:v>D#4</c:v>
                </c:pt>
                <c:pt idx="16">
                  <c:v>E4</c:v>
                </c:pt>
                <c:pt idx="17">
                  <c:v>F4</c:v>
                </c:pt>
                <c:pt idx="18">
                  <c:v>F#4</c:v>
                </c:pt>
                <c:pt idx="19">
                  <c:v>G4</c:v>
                </c:pt>
                <c:pt idx="20">
                  <c:v>G#4</c:v>
                </c:pt>
                <c:pt idx="21">
                  <c:v>A4</c:v>
                </c:pt>
                <c:pt idx="22">
                  <c:v>A#4</c:v>
                </c:pt>
                <c:pt idx="23">
                  <c:v>B4</c:v>
                </c:pt>
              </c:strCache>
            </c:strRef>
          </c:cat>
          <c:val>
            <c:numRef>
              <c:f>Sheet1!$F$2:$F$25</c:f>
              <c:numCache>
                <c:formatCode>General</c:formatCode>
                <c:ptCount val="24"/>
                <c:pt idx="0">
                  <c:v>4.4000000000000004</c:v>
                </c:pt>
                <c:pt idx="1">
                  <c:v>-8.4</c:v>
                </c:pt>
                <c:pt idx="2">
                  <c:v>-16.399999999999999</c:v>
                </c:pt>
                <c:pt idx="3">
                  <c:v>-19.100000000000001</c:v>
                </c:pt>
                <c:pt idx="4">
                  <c:v>-16.399999999999999</c:v>
                </c:pt>
                <c:pt idx="5">
                  <c:v>-7.1</c:v>
                </c:pt>
                <c:pt idx="6">
                  <c:v>9.8000000000000007</c:v>
                </c:pt>
                <c:pt idx="7">
                  <c:v>-7.8</c:v>
                </c:pt>
                <c:pt idx="8">
                  <c:v>-21.2</c:v>
                </c:pt>
                <c:pt idx="9">
                  <c:v>-30</c:v>
                </c:pt>
                <c:pt idx="10">
                  <c:v>-33.9</c:v>
                </c:pt>
                <c:pt idx="11">
                  <c:v>-31.9</c:v>
                </c:pt>
                <c:pt idx="12">
                  <c:v>-23.9</c:v>
                </c:pt>
                <c:pt idx="13">
                  <c:v>-8.3000000000000007</c:v>
                </c:pt>
                <c:pt idx="14">
                  <c:v>15.4</c:v>
                </c:pt>
                <c:pt idx="15">
                  <c:v>-19.2</c:v>
                </c:pt>
                <c:pt idx="16">
                  <c:v>19</c:v>
                </c:pt>
                <c:pt idx="17">
                  <c:v>-7</c:v>
                </c:pt>
                <c:pt idx="18">
                  <c:v>-30</c:v>
                </c:pt>
                <c:pt idx="19">
                  <c:v>35</c:v>
                </c:pt>
                <c:pt idx="20">
                  <c:v>23.8</c:v>
                </c:pt>
                <c:pt idx="21">
                  <c:v>17.399999999999999</c:v>
                </c:pt>
                <c:pt idx="22">
                  <c:v>16.5</c:v>
                </c:pt>
                <c:pt idx="23">
                  <c:v>20.3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204-4574-9CF3-519FF8E278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03072736"/>
        <c:axId val="503073392"/>
      </c:lineChart>
      <c:catAx>
        <c:axId val="503072736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3073392"/>
        <c:crosses val="autoZero"/>
        <c:auto val="1"/>
        <c:lblAlgn val="ctr"/>
        <c:lblOffset val="100"/>
        <c:noMultiLvlLbl val="0"/>
      </c:catAx>
      <c:valAx>
        <c:axId val="5030733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4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4400" b="1" dirty="0">
                    <a:solidFill>
                      <a:schemeClr val="tx1"/>
                    </a:solidFill>
                  </a:rPr>
                  <a:t>Intonation (Cents)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44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30727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40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800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 b="0" i="0">
                <a:latin typeface="Open Sans Light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 b="0" i="0">
                <a:latin typeface="Open Sans Light" charset="0"/>
              </a:defRPr>
            </a:lvl1pPr>
          </a:lstStyle>
          <a:p>
            <a:fld id="{EFC10EE1-B198-C942-8235-326C972CBB30}" type="datetimeFigureOut">
              <a:rPr lang="en-US" smtClean="0"/>
              <a:pPr/>
              <a:t>4/14/2018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8788" y="720725"/>
            <a:ext cx="6397625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 b="0" i="0">
                <a:latin typeface="Open Sans Light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 b="0" i="0">
                <a:latin typeface="Open Sans Light" charset="0"/>
              </a:defRPr>
            </a:lvl1pPr>
          </a:lstStyle>
          <a:p>
            <a:fld id="{006BE02D-20C0-F840-AFAC-BEA99C74FDC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28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17" rtl="0" eaLnBrk="1" latinLnBrk="0" hangingPunct="1">
      <a:defRPr sz="2400" b="0" i="0" kern="1200">
        <a:solidFill>
          <a:schemeClr val="tx1"/>
        </a:solidFill>
        <a:latin typeface="Open Sans Light" charset="0"/>
        <a:ea typeface="+mn-ea"/>
        <a:cs typeface="+mn-cs"/>
      </a:defRPr>
    </a:lvl1pPr>
    <a:lvl2pPr marL="914217" algn="l" defTabSz="914217" rtl="0" eaLnBrk="1" latinLnBrk="0" hangingPunct="1">
      <a:defRPr sz="2400" b="0" i="0" kern="1200">
        <a:solidFill>
          <a:schemeClr val="tx1"/>
        </a:solidFill>
        <a:latin typeface="Open Sans Light" charset="0"/>
        <a:ea typeface="+mn-ea"/>
        <a:cs typeface="+mn-cs"/>
      </a:defRPr>
    </a:lvl2pPr>
    <a:lvl3pPr marL="1828434" algn="l" defTabSz="914217" rtl="0" eaLnBrk="1" latinLnBrk="0" hangingPunct="1">
      <a:defRPr sz="2400" b="0" i="0" kern="1200">
        <a:solidFill>
          <a:schemeClr val="tx1"/>
        </a:solidFill>
        <a:latin typeface="Open Sans Light" charset="0"/>
        <a:ea typeface="+mn-ea"/>
        <a:cs typeface="+mn-cs"/>
      </a:defRPr>
    </a:lvl3pPr>
    <a:lvl4pPr marL="2742651" algn="l" defTabSz="914217" rtl="0" eaLnBrk="1" latinLnBrk="0" hangingPunct="1">
      <a:defRPr sz="2400" b="0" i="0" kern="1200">
        <a:solidFill>
          <a:schemeClr val="tx1"/>
        </a:solidFill>
        <a:latin typeface="Open Sans Light" charset="0"/>
        <a:ea typeface="+mn-ea"/>
        <a:cs typeface="+mn-cs"/>
      </a:defRPr>
    </a:lvl4pPr>
    <a:lvl5pPr marL="3656868" algn="l" defTabSz="914217" rtl="0" eaLnBrk="1" latinLnBrk="0" hangingPunct="1">
      <a:defRPr sz="2400" b="0" i="0" kern="1200">
        <a:solidFill>
          <a:schemeClr val="tx1"/>
        </a:solidFill>
        <a:latin typeface="Open Sans Light" charset="0"/>
        <a:ea typeface="+mn-ea"/>
        <a:cs typeface="+mn-cs"/>
      </a:defRPr>
    </a:lvl5pPr>
    <a:lvl6pPr marL="4571086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ext Box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-17937163" y="-12387263"/>
            <a:ext cx="23261638" cy="13088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sp>
      <p:sp>
        <p:nvSpPr>
          <p:cNvPr id="24578" name="Text Box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31521" y="4560571"/>
            <a:ext cx="5821680" cy="429053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45751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5FDC0BE5-8237-434B-AB26-F93C2EF449B3}" type="slidenum">
              <a:rPr lang="en-US" altLang="x-none"/>
              <a:pPr/>
              <a:t>3</a:t>
            </a:fld>
            <a:endParaRPr lang="en-US" altLang="x-none"/>
          </a:p>
        </p:txBody>
      </p:sp>
      <p:sp>
        <p:nvSpPr>
          <p:cNvPr id="6145" name="Text Box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779463" y="1200150"/>
            <a:ext cx="5754687" cy="32385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sp>
      <p:sp>
        <p:nvSpPr>
          <p:cNvPr id="6146" name="Text Box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31521" y="4620578"/>
            <a:ext cx="5850467" cy="377880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3000155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77BD35B7-DAF1-5B4D-94FA-36B61FD74AC4}" type="slidenum">
              <a:rPr lang="en-US" altLang="x-none"/>
              <a:pPr/>
              <a:t>4</a:t>
            </a:fld>
            <a:endParaRPr lang="en-US" altLang="x-none"/>
          </a:p>
        </p:txBody>
      </p:sp>
      <p:sp>
        <p:nvSpPr>
          <p:cNvPr id="18433" name="Text Box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779463" y="1200150"/>
            <a:ext cx="5751512" cy="32353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sp>
      <p:sp>
        <p:nvSpPr>
          <p:cNvPr id="18434" name="Text Box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31520" y="4620578"/>
            <a:ext cx="5847081" cy="377547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8168389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5FDC0BE5-8237-434B-AB26-F93C2EF449B3}" type="slidenum">
              <a:rPr lang="en-US" altLang="x-none"/>
              <a:pPr/>
              <a:t>5</a:t>
            </a:fld>
            <a:endParaRPr lang="en-US" altLang="x-none"/>
          </a:p>
        </p:txBody>
      </p:sp>
      <p:sp>
        <p:nvSpPr>
          <p:cNvPr id="6145" name="Text Box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779463" y="1200150"/>
            <a:ext cx="5754687" cy="32385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sp>
      <p:sp>
        <p:nvSpPr>
          <p:cNvPr id="6146" name="Text Box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31521" y="4620578"/>
            <a:ext cx="5850467" cy="377880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9055751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5FDC0BE5-8237-434B-AB26-F93C2EF449B3}" type="slidenum">
              <a:rPr lang="en-US" altLang="x-none"/>
              <a:pPr/>
              <a:t>6</a:t>
            </a:fld>
            <a:endParaRPr lang="en-US" altLang="x-none"/>
          </a:p>
        </p:txBody>
      </p:sp>
      <p:sp>
        <p:nvSpPr>
          <p:cNvPr id="6145" name="Text Box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779463" y="1200150"/>
            <a:ext cx="5754687" cy="32385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sp>
      <p:sp>
        <p:nvSpPr>
          <p:cNvPr id="6146" name="Text Box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31521" y="4620578"/>
            <a:ext cx="5850467" cy="377880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19255893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320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5FDC0BE5-8237-434B-AB26-F93C2EF449B3}" type="slidenum">
              <a:rPr lang="en-US" altLang="x-none"/>
              <a:pPr/>
              <a:t>10</a:t>
            </a:fld>
            <a:endParaRPr lang="en-US" altLang="x-none"/>
          </a:p>
        </p:txBody>
      </p:sp>
      <p:sp>
        <p:nvSpPr>
          <p:cNvPr id="6145" name="Text Box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779463" y="1200150"/>
            <a:ext cx="5754687" cy="32385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sp>
      <p:sp>
        <p:nvSpPr>
          <p:cNvPr id="6146" name="Text Box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31521" y="4620578"/>
            <a:ext cx="5850467" cy="377880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20652869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63669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741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4256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G 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9907290" y="1760999"/>
            <a:ext cx="5963377" cy="6706612"/>
          </a:xfrm>
          <a:custGeom>
            <a:avLst/>
            <a:gdLst>
              <a:gd name="connsiteX0" fmla="*/ 2419818 w 5963377"/>
              <a:gd name="connsiteY0" fmla="*/ 0 h 6706612"/>
              <a:gd name="connsiteX1" fmla="*/ 5963377 w 5963377"/>
              <a:gd name="connsiteY1" fmla="*/ 0 h 6706612"/>
              <a:gd name="connsiteX2" fmla="*/ 3543559 w 5963377"/>
              <a:gd name="connsiteY2" fmla="*/ 6706612 h 6706612"/>
              <a:gd name="connsiteX3" fmla="*/ 0 w 5963377"/>
              <a:gd name="connsiteY3" fmla="*/ 6706612 h 6706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63377" h="6706612">
                <a:moveTo>
                  <a:pt x="2419818" y="0"/>
                </a:moveTo>
                <a:lnTo>
                  <a:pt x="5963377" y="0"/>
                </a:lnTo>
                <a:lnTo>
                  <a:pt x="3543559" y="6706612"/>
                </a:lnTo>
                <a:lnTo>
                  <a:pt x="0" y="670661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 sz="26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Open Sans Light" charset="0"/>
                <a:ea typeface="Open Sans Light" charset="0"/>
                <a:cs typeface="Open Sans Light" charset="0"/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8"/>
          </p:nvPr>
        </p:nvSpPr>
        <p:spPr>
          <a:xfrm>
            <a:off x="12447855" y="6171188"/>
            <a:ext cx="5963377" cy="6706612"/>
          </a:xfrm>
          <a:custGeom>
            <a:avLst/>
            <a:gdLst>
              <a:gd name="connsiteX0" fmla="*/ 2419818 w 5963377"/>
              <a:gd name="connsiteY0" fmla="*/ 0 h 6706612"/>
              <a:gd name="connsiteX1" fmla="*/ 5963377 w 5963377"/>
              <a:gd name="connsiteY1" fmla="*/ 0 h 6706612"/>
              <a:gd name="connsiteX2" fmla="*/ 3543559 w 5963377"/>
              <a:gd name="connsiteY2" fmla="*/ 6706612 h 6706612"/>
              <a:gd name="connsiteX3" fmla="*/ 0 w 5963377"/>
              <a:gd name="connsiteY3" fmla="*/ 6706612 h 6706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63377" h="6706612">
                <a:moveTo>
                  <a:pt x="2419818" y="0"/>
                </a:moveTo>
                <a:lnTo>
                  <a:pt x="5963377" y="0"/>
                </a:lnTo>
                <a:lnTo>
                  <a:pt x="3543559" y="6706612"/>
                </a:lnTo>
                <a:lnTo>
                  <a:pt x="0" y="670661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 sz="26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Open Sans Light" charset="0"/>
                <a:ea typeface="Open Sans Light" charset="0"/>
                <a:cs typeface="Open Sans Light" charset="0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9"/>
          </p:nvPr>
        </p:nvSpPr>
        <p:spPr>
          <a:xfrm>
            <a:off x="18184037" y="1760999"/>
            <a:ext cx="5963377" cy="6706612"/>
          </a:xfrm>
          <a:custGeom>
            <a:avLst/>
            <a:gdLst>
              <a:gd name="connsiteX0" fmla="*/ 2419818 w 5963377"/>
              <a:gd name="connsiteY0" fmla="*/ 0 h 6706612"/>
              <a:gd name="connsiteX1" fmla="*/ 5963377 w 5963377"/>
              <a:gd name="connsiteY1" fmla="*/ 0 h 6706612"/>
              <a:gd name="connsiteX2" fmla="*/ 3543559 w 5963377"/>
              <a:gd name="connsiteY2" fmla="*/ 6706612 h 6706612"/>
              <a:gd name="connsiteX3" fmla="*/ 0 w 5963377"/>
              <a:gd name="connsiteY3" fmla="*/ 6706612 h 6706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63377" h="6706612">
                <a:moveTo>
                  <a:pt x="2419818" y="0"/>
                </a:moveTo>
                <a:lnTo>
                  <a:pt x="5963377" y="0"/>
                </a:lnTo>
                <a:lnTo>
                  <a:pt x="3543559" y="6706612"/>
                </a:lnTo>
                <a:lnTo>
                  <a:pt x="0" y="670661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 sz="26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Open Sans Light" charset="0"/>
                <a:ea typeface="Open Sans Light" charset="0"/>
                <a:cs typeface="Open Sans Light" charset="0"/>
              </a:defRPr>
            </a:lvl1pPr>
          </a:lstStyle>
          <a:p>
            <a:endParaRPr lang="en-US" dirty="0"/>
          </a:p>
        </p:txBody>
      </p:sp>
    </p:spTree>
    <p:extLst/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ig Background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/>
          <p:cNvSpPr>
            <a:spLocks noGrp="1"/>
          </p:cNvSpPr>
          <p:nvPr>
            <p:ph type="pic" sz="quarter" idx="23"/>
          </p:nvPr>
        </p:nvSpPr>
        <p:spPr>
          <a:xfrm>
            <a:off x="2" y="0"/>
            <a:ext cx="13297422" cy="13715999"/>
          </a:xfrm>
          <a:custGeom>
            <a:avLst/>
            <a:gdLst>
              <a:gd name="connsiteX0" fmla="*/ 0 w 19393999"/>
              <a:gd name="connsiteY0" fmla="*/ 0 h 13715999"/>
              <a:gd name="connsiteX1" fmla="*/ 19393999 w 19393999"/>
              <a:gd name="connsiteY1" fmla="*/ 0 h 13715999"/>
              <a:gd name="connsiteX2" fmla="*/ 13782907 w 19393999"/>
              <a:gd name="connsiteY2" fmla="*/ 13715999 h 13715999"/>
              <a:gd name="connsiteX3" fmla="*/ 0 w 19393999"/>
              <a:gd name="connsiteY3" fmla="*/ 13715999 h 13715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93999" h="13715999">
                <a:moveTo>
                  <a:pt x="0" y="0"/>
                </a:moveTo>
                <a:lnTo>
                  <a:pt x="19393999" y="0"/>
                </a:lnTo>
                <a:lnTo>
                  <a:pt x="13782907" y="13715999"/>
                </a:lnTo>
                <a:lnTo>
                  <a:pt x="0" y="1371599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 sz="2800" b="0" i="0">
                <a:ln>
                  <a:noFill/>
                </a:ln>
                <a:solidFill>
                  <a:schemeClr val="tx1"/>
                </a:solidFill>
                <a:latin typeface="Montserrat Light" charset="0"/>
                <a:ea typeface="Montserrat Light" charset="0"/>
                <a:cs typeface="Montserrat Light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788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xmlns:p14="http://schemas.microsoft.com/office/powerpoint/2010/main"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g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24377650" cy="13716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400" b="0" i="0">
                <a:ln>
                  <a:noFill/>
                </a:ln>
                <a:solidFill>
                  <a:schemeClr val="tx2"/>
                </a:solidFill>
                <a:latin typeface="Roboto Regular" charset="0"/>
                <a:ea typeface="Roboto Regular" charset="0"/>
                <a:cs typeface="Roboto Regular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209590"/>
      </p:ext>
    </p:extLst>
  </p:cSld>
  <p:clrMapOvr>
    <a:masterClrMapping/>
  </p:clrMapOvr>
  <p:transition advClick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5964" y="730259"/>
            <a:ext cx="21025723" cy="2651126"/>
          </a:xfrm>
          <a:prstGeom prst="rect">
            <a:avLst/>
          </a:prstGeom>
        </p:spPr>
        <p:txBody>
          <a:bodyPr vert="horz" lIns="182843" tIns="91422" rIns="182843" bIns="91422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5964" y="3651250"/>
            <a:ext cx="21025723" cy="8702676"/>
          </a:xfrm>
          <a:prstGeom prst="rect">
            <a:avLst/>
          </a:prstGeom>
        </p:spPr>
        <p:txBody>
          <a:bodyPr vert="horz" lIns="182843" tIns="91422" rIns="182843" bIns="91422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22848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17" r:id="rId2"/>
    <p:sldLayoutId id="2147484039" r:id="rId3"/>
    <p:sldLayoutId id="2147484040" r:id="rId4"/>
  </p:sldLayoutIdLst>
  <p:hf hdr="0" ftr="0" dt="0"/>
  <p:txStyles>
    <p:titleStyle>
      <a:lvl1pPr algn="l" defTabSz="1828434" rtl="0" eaLnBrk="1" latinLnBrk="0" hangingPunct="1">
        <a:lnSpc>
          <a:spcPct val="90000"/>
        </a:lnSpc>
        <a:spcBef>
          <a:spcPct val="0"/>
        </a:spcBef>
        <a:buNone/>
        <a:defRPr lang="en-US" sz="6000" b="0" i="0" kern="1200">
          <a:solidFill>
            <a:schemeClr val="tx1"/>
          </a:solidFill>
          <a:latin typeface="Open Sans Regular" charset="0"/>
          <a:ea typeface="Open Sans Regular" charset="0"/>
          <a:cs typeface="Open Sans Regular" charset="0"/>
        </a:defRPr>
      </a:lvl1pPr>
    </p:titleStyle>
    <p:bodyStyle>
      <a:lvl1pPr marL="457109" indent="-457109" algn="l" defTabSz="1828434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lang="en-US" sz="4800" b="0" i="0" kern="1200" dirty="0" smtClean="0">
          <a:solidFill>
            <a:schemeClr val="tx1"/>
          </a:solidFill>
          <a:effectLst/>
          <a:latin typeface="Montserrat Light" charset="0"/>
          <a:ea typeface="Montserrat Light" charset="0"/>
          <a:cs typeface="Montserrat Light" charset="0"/>
        </a:defRPr>
      </a:lvl1pPr>
      <a:lvl2pPr marL="1371326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4000" b="0" i="0" kern="1200" dirty="0" smtClean="0">
          <a:solidFill>
            <a:schemeClr val="tx1"/>
          </a:solidFill>
          <a:effectLst/>
          <a:latin typeface="Montserrat Light" charset="0"/>
          <a:ea typeface="Montserrat Light" charset="0"/>
          <a:cs typeface="Montserrat Light" charset="0"/>
        </a:defRPr>
      </a:lvl2pPr>
      <a:lvl3pPr marL="2285543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3600" b="0" i="0" kern="1200" dirty="0" smtClean="0">
          <a:solidFill>
            <a:schemeClr val="tx1"/>
          </a:solidFill>
          <a:effectLst/>
          <a:latin typeface="Montserrat Light" charset="0"/>
          <a:ea typeface="Montserrat Light" charset="0"/>
          <a:cs typeface="Montserrat Light" charset="0"/>
        </a:defRPr>
      </a:lvl3pPr>
      <a:lvl4pPr marL="3199760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3200" b="0" i="0" kern="1200" dirty="0" smtClean="0">
          <a:solidFill>
            <a:schemeClr val="tx1"/>
          </a:solidFill>
          <a:effectLst/>
          <a:latin typeface="Montserrat Light" charset="0"/>
          <a:ea typeface="Montserrat Light" charset="0"/>
          <a:cs typeface="Montserrat Light" charset="0"/>
        </a:defRPr>
      </a:lvl4pPr>
      <a:lvl5pPr marL="4113977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3200" b="0" i="0" kern="1200" dirty="0">
          <a:solidFill>
            <a:schemeClr val="tx1"/>
          </a:solidFill>
          <a:effectLst/>
          <a:latin typeface="Montserrat Light" charset="0"/>
          <a:ea typeface="Montserrat Light" charset="0"/>
          <a:cs typeface="Montserrat Light" charset="0"/>
        </a:defRPr>
      </a:lvl5pPr>
      <a:lvl6pPr marL="5028194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2411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6628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0846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217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434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2651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6868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086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5303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399520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3737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w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microsoft.com/office/2007/relationships/hdphoto" Target="../media/hdphoto2.wdp"/><Relationship Id="rId5" Type="http://schemas.openxmlformats.org/officeDocument/2006/relationships/image" Target="../media/image5.png"/><Relationship Id="rId10" Type="http://schemas.microsoft.com/office/2007/relationships/hdphoto" Target="../media/hdphoto4.wdp"/><Relationship Id="rId4" Type="http://schemas.microsoft.com/office/2007/relationships/hdphoto" Target="../media/hdphoto1.wdp"/><Relationship Id="rId9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81F3D31E-4897-4FCC-90E6-81C82D07521C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02" b="7802"/>
          <a:stretch>
            <a:fillRect/>
          </a:stretch>
        </p:blipFill>
        <p:spPr/>
      </p:pic>
      <p:sp>
        <p:nvSpPr>
          <p:cNvPr id="5" name="Rectangle 4"/>
          <p:cNvSpPr/>
          <p:nvPr/>
        </p:nvSpPr>
        <p:spPr>
          <a:xfrm>
            <a:off x="0" y="0"/>
            <a:ext cx="24377650" cy="13716000"/>
          </a:xfrm>
          <a:prstGeom prst="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613209" y="7778316"/>
            <a:ext cx="13151294" cy="42165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spc="600" dirty="0">
                <a:solidFill>
                  <a:schemeClr val="bg1"/>
                </a:solidFill>
                <a:latin typeface="Montserrat Ultra Light" charset="0"/>
                <a:ea typeface="Montserrat Ultra Light" charset="0"/>
                <a:cs typeface="Montserrat Ultra Light" charset="0"/>
              </a:rPr>
              <a:t>Prototype Presentation and Demonstration</a:t>
            </a:r>
          </a:p>
          <a:p>
            <a:pPr algn="ctr"/>
            <a:r>
              <a:rPr lang="en-US" sz="4400" spc="600" dirty="0">
                <a:solidFill>
                  <a:schemeClr val="bg1"/>
                </a:solidFill>
                <a:latin typeface="Montserrat Ultra Light" charset="0"/>
                <a:ea typeface="Montserrat Ultra Light" charset="0"/>
                <a:cs typeface="Montserrat Ultra Light" charset="0"/>
              </a:rPr>
              <a:t>Saturday, April 14</a:t>
            </a:r>
          </a:p>
          <a:p>
            <a:pPr algn="ctr"/>
            <a:endParaRPr lang="en-US" spc="600" dirty="0">
              <a:solidFill>
                <a:schemeClr val="bg1"/>
              </a:solidFill>
              <a:latin typeface="Montserrat Ultra Light" charset="0"/>
              <a:ea typeface="Montserrat Ultra Light" charset="0"/>
              <a:cs typeface="Montserrat Ultra Light" charset="0"/>
            </a:endParaRPr>
          </a:p>
          <a:p>
            <a:pPr algn="ctr"/>
            <a:r>
              <a:rPr lang="en-US" spc="600" dirty="0">
                <a:solidFill>
                  <a:schemeClr val="bg1"/>
                </a:solidFill>
                <a:latin typeface="Montserrat Ultra Light" charset="0"/>
                <a:ea typeface="Montserrat Ultra Light" charset="0"/>
                <a:cs typeface="Montserrat Ultra Light" charset="0"/>
              </a:rPr>
              <a:t>Jared Grimes</a:t>
            </a:r>
          </a:p>
          <a:p>
            <a:pPr algn="ctr"/>
            <a:r>
              <a:rPr lang="en-US" spc="600" dirty="0">
                <a:solidFill>
                  <a:schemeClr val="bg1"/>
                </a:solidFill>
                <a:latin typeface="Montserrat Ultra Light" charset="0"/>
                <a:ea typeface="Montserrat Ultra Light" charset="0"/>
                <a:cs typeface="Montserrat Ultra Light" charset="0"/>
              </a:rPr>
              <a:t>Erik </a:t>
            </a:r>
            <a:r>
              <a:rPr lang="en-US" spc="600" dirty="0" err="1">
                <a:solidFill>
                  <a:schemeClr val="bg1"/>
                </a:solidFill>
                <a:latin typeface="Montserrat Ultra Light" charset="0"/>
                <a:ea typeface="Montserrat Ultra Light" charset="0"/>
                <a:cs typeface="Montserrat Ultra Light" charset="0"/>
              </a:rPr>
              <a:t>Sangeorzan</a:t>
            </a:r>
            <a:endParaRPr lang="en-US" spc="600" dirty="0">
              <a:solidFill>
                <a:schemeClr val="bg1"/>
              </a:solidFill>
              <a:latin typeface="Montserrat Ultra Light" charset="0"/>
              <a:ea typeface="Montserrat Ultra Light" charset="0"/>
              <a:cs typeface="Montserrat Ultra Light" charset="0"/>
            </a:endParaRPr>
          </a:p>
          <a:p>
            <a:pPr algn="ctr"/>
            <a:r>
              <a:rPr lang="en-US" spc="600" dirty="0">
                <a:solidFill>
                  <a:schemeClr val="bg1"/>
                </a:solidFill>
                <a:latin typeface="Montserrat Ultra Light" charset="0"/>
                <a:ea typeface="Montserrat Ultra Light" charset="0"/>
                <a:cs typeface="Montserrat Ultra Light" charset="0"/>
              </a:rPr>
              <a:t>Austin Wong</a:t>
            </a:r>
          </a:p>
          <a:p>
            <a:pPr algn="ctr"/>
            <a:r>
              <a:rPr lang="en-US" spc="600" dirty="0">
                <a:solidFill>
                  <a:schemeClr val="bg1"/>
                </a:solidFill>
                <a:latin typeface="Montserrat Ultra Light" charset="0"/>
                <a:ea typeface="Montserrat Ultra Light" charset="0"/>
                <a:cs typeface="Montserrat Ultra Light" charset="0"/>
              </a:rPr>
              <a:t>Kevin </a:t>
            </a:r>
            <a:r>
              <a:rPr lang="en-US" spc="600" dirty="0" err="1">
                <a:solidFill>
                  <a:schemeClr val="bg1"/>
                </a:solidFill>
                <a:latin typeface="Montserrat Ultra Light" charset="0"/>
                <a:ea typeface="Montserrat Ultra Light" charset="0"/>
                <a:cs typeface="Montserrat Ultra Light" charset="0"/>
              </a:rPr>
              <a:t>Zentner</a:t>
            </a:r>
            <a:endParaRPr lang="en-US" spc="600" dirty="0">
              <a:solidFill>
                <a:schemeClr val="bg1"/>
              </a:solidFill>
              <a:latin typeface="Montserrat Ultra Light" charset="0"/>
              <a:ea typeface="Montserrat Ultra Light" charset="0"/>
              <a:cs typeface="Montserrat Ultra Light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20771" y="5377659"/>
            <a:ext cx="7136121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000" b="1" spc="6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Stratum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3A00D4-6B88-4F19-9A8B-7B186EB527B9}"/>
              </a:ext>
            </a:extLst>
          </p:cNvPr>
          <p:cNvSpPr txBox="1"/>
          <p:nvPr/>
        </p:nvSpPr>
        <p:spPr>
          <a:xfrm>
            <a:off x="0" y="13275734"/>
            <a:ext cx="127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http://hispanofrances.blogspot.com/2015/05/salir-de-fiesta.html</a:t>
            </a:r>
          </a:p>
        </p:txBody>
      </p:sp>
    </p:spTree>
    <p:extLst>
      <p:ext uri="{BB962C8B-B14F-4D97-AF65-F5344CB8AC3E}">
        <p14:creationId xmlns:p14="http://schemas.microsoft.com/office/powerpoint/2010/main" val="181341539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A1969734-915D-479B-8BBC-39915BD77B77}"/>
              </a:ext>
            </a:extLst>
          </p:cNvPr>
          <p:cNvSpPr txBox="1">
            <a:spLocks/>
          </p:cNvSpPr>
          <p:nvPr/>
        </p:nvSpPr>
        <p:spPr>
          <a:xfrm>
            <a:off x="6669835" y="5863335"/>
            <a:ext cx="11037979" cy="1989329"/>
          </a:xfrm>
          <a:prstGeom prst="rect">
            <a:avLst/>
          </a:prstGeom>
        </p:spPr>
        <p:txBody>
          <a:bodyPr vert="horz" wrap="square" lIns="217490" tIns="108745" rIns="217490" bIns="1087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Aft>
                <a:spcPts val="2400"/>
              </a:spcAft>
            </a:pPr>
            <a:r>
              <a:rPr lang="en-US" sz="11500" b="1" dirty="0">
                <a:latin typeface="Montserrat Light" charset="0"/>
                <a:ea typeface="Montserrat Light" charset="0"/>
                <a:cs typeface="Montserrat Light" charset="0"/>
              </a:rPr>
              <a:t>What is Stratum?</a:t>
            </a:r>
          </a:p>
        </p:txBody>
      </p:sp>
    </p:spTree>
    <p:extLst>
      <p:ext uri="{BB962C8B-B14F-4D97-AF65-F5344CB8AC3E}">
        <p14:creationId xmlns:p14="http://schemas.microsoft.com/office/powerpoint/2010/main" val="3254681229"/>
      </p:ext>
    </p:extLst>
  </p:cSld>
  <p:clrMapOvr>
    <a:masterClrMapping/>
  </p:clrMapOvr>
  <p:transition advClick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7393850" y="1623551"/>
            <a:ext cx="9634561" cy="12775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0000"/>
              </a:lnSpc>
            </a:pPr>
            <a:r>
              <a:rPr lang="en-US" sz="6600" b="1" dirty="0">
                <a:solidFill>
                  <a:schemeClr val="tx2"/>
                </a:solidFill>
                <a:latin typeface="Montserrat Bold" charset="0"/>
                <a:ea typeface="Montserrat Bold" charset="0"/>
                <a:cs typeface="Montserrat Bold" charset="0"/>
              </a:rPr>
              <a:t>Students Who Study Music</a:t>
            </a:r>
          </a:p>
        </p:txBody>
      </p:sp>
      <p:sp>
        <p:nvSpPr>
          <p:cNvPr id="21" name="Oval 20"/>
          <p:cNvSpPr/>
          <p:nvPr/>
        </p:nvSpPr>
        <p:spPr>
          <a:xfrm>
            <a:off x="16740553" y="3988420"/>
            <a:ext cx="5265722" cy="5267092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43" tIns="91422" rIns="182843" bIns="91422" rtlCol="0" anchor="ctr"/>
          <a:lstStyle/>
          <a:p>
            <a:pPr algn="ctr"/>
            <a:endParaRPr lang="en-US" sz="6400" dirty="0">
              <a:solidFill>
                <a:schemeClr val="tx1"/>
              </a:solidFill>
              <a:latin typeface="Open Sans Regular" charset="0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9581470" y="3988420"/>
            <a:ext cx="5265722" cy="526709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43" tIns="91422" rIns="182843" bIns="91422" rtlCol="0" anchor="ctr"/>
          <a:lstStyle/>
          <a:p>
            <a:pPr algn="ctr"/>
            <a:endParaRPr lang="en-US" sz="6400" dirty="0">
              <a:solidFill>
                <a:schemeClr val="tx1"/>
              </a:solidFill>
              <a:latin typeface="Open Sans Regular" charset="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2422387" y="3988420"/>
            <a:ext cx="5265722" cy="526709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43" tIns="91422" rIns="182843" bIns="91422" rtlCol="0" anchor="ctr"/>
          <a:lstStyle/>
          <a:p>
            <a:pPr algn="ctr"/>
            <a:endParaRPr lang="en-US" sz="6400" dirty="0">
              <a:solidFill>
                <a:schemeClr val="tx1"/>
              </a:solidFill>
              <a:latin typeface="Open Sans Regular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8631865" y="5648783"/>
            <a:ext cx="1483098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10000" b="1" dirty="0">
                <a:solidFill>
                  <a:schemeClr val="bg1"/>
                </a:solidFill>
                <a:latin typeface="Montserrat Bold" charset="0"/>
                <a:ea typeface="Montserrat Bold" charset="0"/>
                <a:cs typeface="Montserrat Bold" charset="0"/>
              </a:rPr>
              <a:t>46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6423" y="5648783"/>
            <a:ext cx="2417650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10000" b="1" dirty="0">
                <a:solidFill>
                  <a:schemeClr val="bg1"/>
                </a:solidFill>
                <a:latin typeface="Montserrat Bold" charset="0"/>
                <a:ea typeface="Montserrat Bold" charset="0"/>
                <a:cs typeface="Montserrat Bold" charset="0"/>
              </a:rPr>
              <a:t>40%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5506" y="5648783"/>
            <a:ext cx="2417650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10000" b="1" dirty="0">
                <a:solidFill>
                  <a:schemeClr val="bg1"/>
                </a:solidFill>
                <a:latin typeface="Montserrat Bold" charset="0"/>
                <a:ea typeface="Montserrat Bold" charset="0"/>
                <a:cs typeface="Montserrat Bold" charset="0"/>
              </a:rPr>
              <a:t>66%</a:t>
            </a:r>
          </a:p>
        </p:txBody>
      </p:sp>
      <p:sp>
        <p:nvSpPr>
          <p:cNvPr id="37" name="Subtitle 2"/>
          <p:cNvSpPr txBox="1">
            <a:spLocks/>
          </p:cNvSpPr>
          <p:nvPr/>
        </p:nvSpPr>
        <p:spPr>
          <a:xfrm>
            <a:off x="15492957" y="9506802"/>
            <a:ext cx="7833552" cy="1292985"/>
          </a:xfrm>
          <a:prstGeom prst="rect">
            <a:avLst/>
          </a:prstGeom>
        </p:spPr>
        <p:txBody>
          <a:bodyPr vert="horz" wrap="square" lIns="217490" tIns="108745" rIns="217490" bIns="1087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300"/>
              </a:lnSpc>
            </a:pPr>
            <a:r>
              <a:rPr lang="en-US" sz="3200" dirty="0">
                <a:solidFill>
                  <a:schemeClr val="tx1"/>
                </a:solidFill>
                <a:latin typeface="Montserrat Light" charset="0"/>
                <a:ea typeface="Montserrat Light" charset="0"/>
                <a:cs typeface="Montserrat Light" charset="0"/>
              </a:rPr>
              <a:t>As opposed to students                                  not taking music performance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01158" y="7022172"/>
            <a:ext cx="2619948" cy="95410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Montserrat Bold" charset="0"/>
                <a:ea typeface="Montserrat Bold" charset="0"/>
                <a:cs typeface="Montserrat Bold" charset="0"/>
              </a:rPr>
              <a:t>acceptance rate </a:t>
            </a:r>
          </a:p>
          <a:p>
            <a:pPr algn="ctr"/>
            <a:r>
              <a:rPr lang="en-US" sz="2800" b="1" dirty="0">
                <a:solidFill>
                  <a:schemeClr val="bg1"/>
                </a:solidFill>
                <a:latin typeface="Montserrat Bold" charset="0"/>
                <a:ea typeface="Montserrat Bold" charset="0"/>
                <a:cs typeface="Montserrat Bold" charset="0"/>
              </a:rPr>
              <a:t>into med school</a:t>
            </a:r>
          </a:p>
        </p:txBody>
      </p:sp>
      <p:sp>
        <p:nvSpPr>
          <p:cNvPr id="39" name="Subtitle 2"/>
          <p:cNvSpPr txBox="1">
            <a:spLocks/>
          </p:cNvSpPr>
          <p:nvPr/>
        </p:nvSpPr>
        <p:spPr>
          <a:xfrm>
            <a:off x="1604681" y="9509545"/>
            <a:ext cx="6901134" cy="2382257"/>
          </a:xfrm>
          <a:prstGeom prst="rect">
            <a:avLst/>
          </a:prstGeom>
        </p:spPr>
        <p:txBody>
          <a:bodyPr vert="horz" wrap="square" lIns="217490" tIns="108745" rIns="217490" bIns="1087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300"/>
              </a:lnSpc>
            </a:pPr>
            <a:r>
              <a:rPr lang="en-US" sz="3200" dirty="0">
                <a:solidFill>
                  <a:schemeClr val="tx1"/>
                </a:solidFill>
                <a:latin typeface="Montserrat Light" charset="0"/>
                <a:ea typeface="Montserrat Light" charset="0"/>
                <a:cs typeface="Montserrat Light" charset="0"/>
              </a:rPr>
              <a:t>in the subjects of history, geography, math, reading, and even social skills of students with lower socioeconomic status who took music lessons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504661" y="7045570"/>
            <a:ext cx="3810146" cy="52322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Montserrat Bold" charset="0"/>
                <a:ea typeface="Montserrat Bold" charset="0"/>
                <a:cs typeface="Montserrat Bold" charset="0"/>
              </a:rPr>
              <a:t>points higher on the SAT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80052AA6-D049-43BB-86BE-C2FEB695F774}"/>
              </a:ext>
            </a:extLst>
          </p:cNvPr>
          <p:cNvSpPr txBox="1">
            <a:spLocks/>
          </p:cNvSpPr>
          <p:nvPr/>
        </p:nvSpPr>
        <p:spPr>
          <a:xfrm>
            <a:off x="0" y="13015370"/>
            <a:ext cx="14049768" cy="724560"/>
          </a:xfrm>
          <a:prstGeom prst="rect">
            <a:avLst/>
          </a:prstGeom>
        </p:spPr>
        <p:txBody>
          <a:bodyPr vert="horz" wrap="square" lIns="217490" tIns="108745" rIns="217490" bIns="1087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4300"/>
              </a:lnSpc>
            </a:pPr>
            <a:r>
              <a:rPr lang="en-US" dirty="0">
                <a:solidFill>
                  <a:schemeClr val="tx1"/>
                </a:solidFill>
                <a:latin typeface="Montserrat Light" charset="0"/>
                <a:ea typeface="Montserrat Light" charset="0"/>
                <a:cs typeface="Montserrat Light" charset="0"/>
              </a:rPr>
              <a:t>http://www.childrensmusicworkshop.com/advocacy/factsandstatistics/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278595C-C238-4385-97FC-6C7B0E492FBD}"/>
              </a:ext>
            </a:extLst>
          </p:cNvPr>
          <p:cNvSpPr txBox="1"/>
          <p:nvPr/>
        </p:nvSpPr>
        <p:spPr>
          <a:xfrm>
            <a:off x="2748890" y="7022172"/>
            <a:ext cx="4581382" cy="523220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Montserrat Bold" charset="0"/>
                <a:ea typeface="Montserrat Bold" charset="0"/>
                <a:cs typeface="Montserrat Bold" charset="0"/>
              </a:rPr>
              <a:t>increase in assignment scores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16BC9EC5-6B3F-4FCA-BBE2-87B3CA310F23}"/>
              </a:ext>
            </a:extLst>
          </p:cNvPr>
          <p:cNvSpPr txBox="1">
            <a:spLocks/>
          </p:cNvSpPr>
          <p:nvPr/>
        </p:nvSpPr>
        <p:spPr>
          <a:xfrm>
            <a:off x="8760565" y="9506803"/>
            <a:ext cx="6901133" cy="1292985"/>
          </a:xfrm>
          <a:prstGeom prst="rect">
            <a:avLst/>
          </a:prstGeom>
        </p:spPr>
        <p:txBody>
          <a:bodyPr vert="horz" wrap="square" lIns="217490" tIns="108745" rIns="217490" bIns="1087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300"/>
              </a:lnSpc>
            </a:pPr>
            <a:r>
              <a:rPr lang="en-US" sz="3200" dirty="0">
                <a:solidFill>
                  <a:schemeClr val="tx1"/>
                </a:solidFill>
                <a:latin typeface="Montserrat Light" charset="0"/>
                <a:ea typeface="Montserrat Light" charset="0"/>
                <a:cs typeface="Montserrat Light" charset="0"/>
              </a:rPr>
              <a:t>As opposed to students                     who don’t major in music</a:t>
            </a:r>
          </a:p>
        </p:txBody>
      </p:sp>
    </p:spTree>
    <p:extLst>
      <p:ext uri="{BB962C8B-B14F-4D97-AF65-F5344CB8AC3E}">
        <p14:creationId xmlns:p14="http://schemas.microsoft.com/office/powerpoint/2010/main" val="190319919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Box 90"/>
          <p:cNvSpPr txBox="1"/>
          <p:nvPr/>
        </p:nvSpPr>
        <p:spPr>
          <a:xfrm>
            <a:off x="10699189" y="3346915"/>
            <a:ext cx="3403689" cy="13249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0000"/>
              </a:lnSpc>
            </a:pPr>
            <a:r>
              <a:rPr lang="en-US" sz="8000" b="1" dirty="0">
                <a:solidFill>
                  <a:schemeClr val="tx2"/>
                </a:solidFill>
                <a:latin typeface="Montserrat Bold" charset="0"/>
                <a:ea typeface="Montserrat Bold" charset="0"/>
                <a:cs typeface="Montserrat Bold" charset="0"/>
              </a:rPr>
              <a:t>Agenda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3056775" y="6663255"/>
            <a:ext cx="1027845" cy="2035044"/>
          </a:xfrm>
          <a:prstGeom prst="rect">
            <a:avLst/>
          </a:prstGeom>
          <a:noFill/>
        </p:spPr>
        <p:txBody>
          <a:bodyPr wrap="none" tIns="640080" rtlCol="0">
            <a:spAutoFit/>
          </a:bodyPr>
          <a:lstStyle/>
          <a:p>
            <a:pPr algn="ctr">
              <a:lnSpc>
                <a:spcPts val="10000"/>
              </a:lnSpc>
            </a:pPr>
            <a:r>
              <a:rPr lang="en-US" sz="11500" dirty="0">
                <a:solidFill>
                  <a:schemeClr val="accent5"/>
                </a:solidFill>
                <a:latin typeface="Montserrat Light" charset="0"/>
                <a:ea typeface="Montserrat Light" charset="0"/>
                <a:cs typeface="Montserrat Light" charset="0"/>
              </a:rPr>
              <a:t>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3032730" y="8465216"/>
            <a:ext cx="1075936" cy="2015745"/>
          </a:xfrm>
          <a:prstGeom prst="rect">
            <a:avLst/>
          </a:prstGeom>
          <a:noFill/>
        </p:spPr>
        <p:txBody>
          <a:bodyPr wrap="none" tIns="640080" rtlCol="0">
            <a:spAutoFit/>
          </a:bodyPr>
          <a:lstStyle/>
          <a:p>
            <a:pPr algn="ctr">
              <a:lnSpc>
                <a:spcPts val="10000"/>
              </a:lnSpc>
            </a:pPr>
            <a:r>
              <a:rPr lang="en-US" sz="11500" dirty="0">
                <a:solidFill>
                  <a:schemeClr val="accent6"/>
                </a:solidFill>
                <a:latin typeface="Montserrat Light" charset="0"/>
                <a:ea typeface="Montserrat Light" charset="0"/>
                <a:cs typeface="Montserrat Light" charset="0"/>
              </a:rPr>
              <a:t>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056775" y="4898392"/>
            <a:ext cx="1027846" cy="2035044"/>
          </a:xfrm>
          <a:prstGeom prst="rect">
            <a:avLst/>
          </a:prstGeom>
          <a:noFill/>
        </p:spPr>
        <p:txBody>
          <a:bodyPr wrap="none" tIns="640080" rtlCol="0">
            <a:spAutoFit/>
          </a:bodyPr>
          <a:lstStyle/>
          <a:p>
            <a:pPr algn="ctr">
              <a:lnSpc>
                <a:spcPts val="10000"/>
              </a:lnSpc>
            </a:pPr>
            <a:r>
              <a:rPr lang="en-US" sz="11500" dirty="0">
                <a:solidFill>
                  <a:schemeClr val="accent4"/>
                </a:solidFill>
                <a:latin typeface="Montserrat Light" charset="0"/>
                <a:ea typeface="Montserrat Light" charset="0"/>
                <a:cs typeface="Montserrat Light" charset="0"/>
              </a:rPr>
              <a:t>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51162" y="7389264"/>
            <a:ext cx="1899879" cy="83099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4800" b="1" dirty="0">
                <a:solidFill>
                  <a:schemeClr val="tx2"/>
                </a:solidFill>
                <a:latin typeface="Montserrat Bold" charset="0"/>
                <a:ea typeface="Montserrat Bold" charset="0"/>
                <a:cs typeface="Montserrat Bold" charset="0"/>
              </a:rPr>
              <a:t>Design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963248" y="6663255"/>
            <a:ext cx="1042273" cy="2015745"/>
          </a:xfrm>
          <a:prstGeom prst="rect">
            <a:avLst/>
          </a:prstGeom>
          <a:noFill/>
        </p:spPr>
        <p:txBody>
          <a:bodyPr wrap="none" tIns="640080" rtlCol="0">
            <a:spAutoFit/>
          </a:bodyPr>
          <a:lstStyle/>
          <a:p>
            <a:pPr algn="ctr">
              <a:lnSpc>
                <a:spcPts val="10000"/>
              </a:lnSpc>
            </a:pPr>
            <a:r>
              <a:rPr lang="en-US" sz="11500" dirty="0">
                <a:solidFill>
                  <a:schemeClr val="accent2"/>
                </a:solidFill>
                <a:latin typeface="Montserrat Light" charset="0"/>
                <a:ea typeface="Montserrat Light" charset="0"/>
                <a:cs typeface="Montserrat Light" charset="0"/>
              </a:rPr>
              <a:t>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03323" y="8465216"/>
            <a:ext cx="962122" cy="2015745"/>
          </a:xfrm>
          <a:prstGeom prst="rect">
            <a:avLst/>
          </a:prstGeom>
          <a:noFill/>
        </p:spPr>
        <p:txBody>
          <a:bodyPr wrap="none" tIns="640080" rtlCol="0">
            <a:spAutoFit/>
          </a:bodyPr>
          <a:lstStyle/>
          <a:p>
            <a:pPr algn="ctr">
              <a:lnSpc>
                <a:spcPts val="10000"/>
              </a:lnSpc>
            </a:pPr>
            <a:r>
              <a:rPr lang="en-US" sz="11500" dirty="0">
                <a:solidFill>
                  <a:schemeClr val="accent3"/>
                </a:solidFill>
                <a:latin typeface="Montserrat Light" charset="0"/>
                <a:ea typeface="Montserrat Light" charset="0"/>
                <a:cs typeface="Montserrat Light" charset="0"/>
              </a:rPr>
              <a:t>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16464" y="4918816"/>
            <a:ext cx="731289" cy="2015745"/>
          </a:xfrm>
          <a:prstGeom prst="rect">
            <a:avLst/>
          </a:prstGeom>
          <a:noFill/>
        </p:spPr>
        <p:txBody>
          <a:bodyPr wrap="none" tIns="640080" rtlCol="0">
            <a:spAutoFit/>
          </a:bodyPr>
          <a:lstStyle/>
          <a:p>
            <a:pPr algn="ctr">
              <a:lnSpc>
                <a:spcPts val="10000"/>
              </a:lnSpc>
            </a:pPr>
            <a:r>
              <a:rPr lang="en-US" sz="11500" dirty="0">
                <a:solidFill>
                  <a:schemeClr val="accent1"/>
                </a:solidFill>
                <a:latin typeface="Montserrat Light" charset="0"/>
                <a:ea typeface="Montserrat Light" charset="0"/>
                <a:cs typeface="Montserrat Light" charset="0"/>
              </a:rPr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368BDE-E6A2-46B2-8FD7-8C5B4B79C19A}"/>
              </a:ext>
            </a:extLst>
          </p:cNvPr>
          <p:cNvSpPr txBox="1"/>
          <p:nvPr/>
        </p:nvSpPr>
        <p:spPr>
          <a:xfrm>
            <a:off x="7451162" y="9057589"/>
            <a:ext cx="2376741" cy="83099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4800" b="1" dirty="0">
                <a:solidFill>
                  <a:schemeClr val="tx2"/>
                </a:solidFill>
                <a:latin typeface="Montserrat Bold" charset="0"/>
                <a:ea typeface="Montserrat Bold" charset="0"/>
                <a:cs typeface="Montserrat Bold" charset="0"/>
              </a:rPr>
              <a:t>Features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2EDD84-4D2A-4EC1-AB76-758C0327E825}"/>
              </a:ext>
            </a:extLst>
          </p:cNvPr>
          <p:cNvSpPr txBox="1"/>
          <p:nvPr/>
        </p:nvSpPr>
        <p:spPr>
          <a:xfrm>
            <a:off x="7451162" y="5615080"/>
            <a:ext cx="5002203" cy="83099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4800" b="1" dirty="0">
                <a:solidFill>
                  <a:schemeClr val="tx2"/>
                </a:solidFill>
                <a:latin typeface="Montserrat Bold" charset="0"/>
                <a:ea typeface="Montserrat Bold" charset="0"/>
                <a:cs typeface="Montserrat Bold" charset="0"/>
              </a:rPr>
              <a:t>Timeline of Project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C139A2-04C5-4F86-84BF-8D074B5FACF9}"/>
              </a:ext>
            </a:extLst>
          </p:cNvPr>
          <p:cNvSpPr txBox="1"/>
          <p:nvPr/>
        </p:nvSpPr>
        <p:spPr>
          <a:xfrm>
            <a:off x="14446149" y="9143024"/>
            <a:ext cx="1712328" cy="83099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4800" b="1" dirty="0">
                <a:solidFill>
                  <a:schemeClr val="tx2"/>
                </a:solidFill>
                <a:latin typeface="Montserrat Bold" charset="0"/>
                <a:ea typeface="Montserrat Bold" charset="0"/>
                <a:cs typeface="Montserrat Bold" charset="0"/>
              </a:rPr>
              <a:t>Demo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C627A2-AF98-4B50-8A74-1BCACE390351}"/>
              </a:ext>
            </a:extLst>
          </p:cNvPr>
          <p:cNvSpPr txBox="1"/>
          <p:nvPr/>
        </p:nvSpPr>
        <p:spPr>
          <a:xfrm>
            <a:off x="14446149" y="5615080"/>
            <a:ext cx="4772076" cy="83099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4800" b="1" dirty="0">
                <a:solidFill>
                  <a:schemeClr val="tx2"/>
                </a:solidFill>
                <a:latin typeface="Montserrat Bold" charset="0"/>
                <a:ea typeface="Montserrat Bold" charset="0"/>
                <a:cs typeface="Montserrat Bold" charset="0"/>
              </a:rPr>
              <a:t>What We Learned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F2ADC6-7728-4115-BC33-A6FE9780AEAA}"/>
              </a:ext>
            </a:extLst>
          </p:cNvPr>
          <p:cNvSpPr txBox="1"/>
          <p:nvPr/>
        </p:nvSpPr>
        <p:spPr>
          <a:xfrm>
            <a:off x="14446149" y="7389264"/>
            <a:ext cx="4720651" cy="83099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en-US" sz="4800" b="1" dirty="0">
                <a:solidFill>
                  <a:schemeClr val="tx2"/>
                </a:solidFill>
                <a:latin typeface="Montserrat Bold" charset="0"/>
                <a:ea typeface="Montserrat Bold" charset="0"/>
                <a:cs typeface="Montserrat Bold" charset="0"/>
              </a:rPr>
              <a:t>Future of Stratum</a:t>
            </a:r>
          </a:p>
        </p:txBody>
      </p:sp>
    </p:spTree>
    <p:extLst>
      <p:ext uri="{BB962C8B-B14F-4D97-AF65-F5344CB8AC3E}">
        <p14:creationId xmlns:p14="http://schemas.microsoft.com/office/powerpoint/2010/main" val="177034585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07866" y="1217672"/>
            <a:ext cx="6972101" cy="12775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0000"/>
              </a:lnSpc>
            </a:pPr>
            <a:r>
              <a:rPr lang="en-US" sz="6600" b="1" dirty="0">
                <a:solidFill>
                  <a:schemeClr val="tx2"/>
                </a:solidFill>
                <a:latin typeface="Montserrat Bold" charset="0"/>
                <a:ea typeface="Montserrat Bold" charset="0"/>
                <a:cs typeface="Montserrat Bold" charset="0"/>
              </a:rPr>
              <a:t>Project Progression</a:t>
            </a:r>
          </a:p>
        </p:txBody>
      </p:sp>
      <p:sp>
        <p:nvSpPr>
          <p:cNvPr id="5" name="Diagonal Stripe 4"/>
          <p:cNvSpPr/>
          <p:nvPr/>
        </p:nvSpPr>
        <p:spPr>
          <a:xfrm rot="2699999">
            <a:off x="19046894" y="6563592"/>
            <a:ext cx="3166946" cy="3166946"/>
          </a:xfrm>
          <a:prstGeom prst="diagStripe">
            <a:avLst>
              <a:gd name="adj" fmla="val 63445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Open Sans Regular" charset="0"/>
            </a:endParaRPr>
          </a:p>
        </p:txBody>
      </p:sp>
      <p:sp>
        <p:nvSpPr>
          <p:cNvPr id="6" name="Diagonal Stripe 5"/>
          <p:cNvSpPr/>
          <p:nvPr/>
        </p:nvSpPr>
        <p:spPr>
          <a:xfrm rot="2699999">
            <a:off x="2214823" y="6563592"/>
            <a:ext cx="3166946" cy="3166946"/>
          </a:xfrm>
          <a:prstGeom prst="diagStripe">
            <a:avLst>
              <a:gd name="adj" fmla="val 6344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Open Sans Regular" charset="0"/>
            </a:endParaRPr>
          </a:p>
        </p:txBody>
      </p:sp>
      <p:sp>
        <p:nvSpPr>
          <p:cNvPr id="7" name="Diagonal Stripe 6"/>
          <p:cNvSpPr/>
          <p:nvPr/>
        </p:nvSpPr>
        <p:spPr>
          <a:xfrm rot="2699999">
            <a:off x="10630859" y="6563592"/>
            <a:ext cx="3166946" cy="3166946"/>
          </a:xfrm>
          <a:prstGeom prst="diagStripe">
            <a:avLst>
              <a:gd name="adj" fmla="val 63445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Open Sans Regular" charset="0"/>
            </a:endParaRPr>
          </a:p>
        </p:txBody>
      </p:sp>
      <p:sp>
        <p:nvSpPr>
          <p:cNvPr id="8" name="Diagonal Stripe 7"/>
          <p:cNvSpPr/>
          <p:nvPr/>
        </p:nvSpPr>
        <p:spPr>
          <a:xfrm rot="13499999">
            <a:off x="6397335" y="5741000"/>
            <a:ext cx="3166946" cy="3166946"/>
          </a:xfrm>
          <a:prstGeom prst="diagStripe">
            <a:avLst>
              <a:gd name="adj" fmla="val 6344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Open Sans Regular" charset="0"/>
            </a:endParaRPr>
          </a:p>
        </p:txBody>
      </p:sp>
      <p:sp>
        <p:nvSpPr>
          <p:cNvPr id="9" name="Diagonal Stripe 8"/>
          <p:cNvSpPr/>
          <p:nvPr/>
        </p:nvSpPr>
        <p:spPr>
          <a:xfrm rot="13499999">
            <a:off x="14813370" y="5741000"/>
            <a:ext cx="3166946" cy="3166946"/>
          </a:xfrm>
          <a:prstGeom prst="diagStripe">
            <a:avLst>
              <a:gd name="adj" fmla="val 63445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Open Sans Regular" charset="0"/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12188825" y="5964816"/>
            <a:ext cx="0" cy="914400"/>
          </a:xfrm>
          <a:prstGeom prst="line">
            <a:avLst/>
          </a:prstGeom>
          <a:ln w="28575">
            <a:solidFill>
              <a:schemeClr val="accent3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9674020" y="7448675"/>
            <a:ext cx="1912704" cy="553998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  <a:latin typeface="Montserrat Bold" charset="0"/>
                <a:ea typeface="Montserrat Bold" charset="0"/>
                <a:cs typeface="Montserrat Bold" charset="0"/>
              </a:rPr>
              <a:t>April 8 - 14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3347" y="7448675"/>
            <a:ext cx="2280753" cy="553998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  <a:latin typeface="Montserrat Bold" charset="0"/>
                <a:ea typeface="Montserrat Bold" charset="0"/>
                <a:cs typeface="Montserrat Bold" charset="0"/>
              </a:rPr>
              <a:t>March 11 -17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4043" y="7448675"/>
            <a:ext cx="2367315" cy="553998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  <a:latin typeface="Montserrat Bold" charset="0"/>
                <a:ea typeface="Montserrat Bold" charset="0"/>
                <a:cs typeface="Montserrat Bold" charset="0"/>
              </a:rPr>
              <a:t>March 18 - 24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31150" y="7448675"/>
            <a:ext cx="2367315" cy="553998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  <a:latin typeface="Montserrat Bold" charset="0"/>
                <a:ea typeface="Montserrat Bold" charset="0"/>
                <a:cs typeface="Montserrat Bold" charset="0"/>
              </a:rPr>
              <a:t>March 25 - 31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98389" y="7448675"/>
            <a:ext cx="1717137" cy="553998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  <a:latin typeface="Montserrat Bold" charset="0"/>
                <a:ea typeface="Montserrat Bold" charset="0"/>
                <a:cs typeface="Montserrat Bold" charset="0"/>
              </a:rPr>
              <a:t>April 1 - 7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9828" y="3712511"/>
            <a:ext cx="4332468" cy="58477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3200" b="1" dirty="0">
                <a:solidFill>
                  <a:schemeClr val="tx2"/>
                </a:solidFill>
                <a:latin typeface="Montserrat Bold" charset="0"/>
                <a:ea typeface="Montserrat Bold" charset="0"/>
                <a:cs typeface="Montserrat Bold" charset="0"/>
              </a:rPr>
              <a:t>Keyboard and VGA Code</a:t>
            </a:r>
          </a:p>
        </p:txBody>
      </p:sp>
      <p:sp>
        <p:nvSpPr>
          <p:cNvPr id="19" name="Subtitle 2"/>
          <p:cNvSpPr txBox="1">
            <a:spLocks/>
          </p:cNvSpPr>
          <p:nvPr/>
        </p:nvSpPr>
        <p:spPr>
          <a:xfrm>
            <a:off x="8757243" y="4371237"/>
            <a:ext cx="6863163" cy="1279391"/>
          </a:xfrm>
          <a:prstGeom prst="rect">
            <a:avLst/>
          </a:prstGeom>
        </p:spPr>
        <p:txBody>
          <a:bodyPr vert="horz" wrap="square" lIns="217490" tIns="108745" rIns="217490" bIns="1087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300"/>
              </a:lnSpc>
            </a:pPr>
            <a:r>
              <a:rPr lang="en-US" sz="2800" dirty="0">
                <a:solidFill>
                  <a:schemeClr val="tx1"/>
                </a:solidFill>
                <a:latin typeface="Montserrat Light" charset="0"/>
                <a:ea typeface="Montserrat Light" charset="0"/>
                <a:cs typeface="Montserrat Light" charset="0"/>
              </a:rPr>
              <a:t>Worked on implementing the main module, while starting to program the visual aspect</a:t>
            </a:r>
          </a:p>
        </p:txBody>
      </p:sp>
      <p:cxnSp>
        <p:nvCxnSpPr>
          <p:cNvPr id="21" name="Straight Connector 20"/>
          <p:cNvCxnSpPr/>
          <p:nvPr/>
        </p:nvCxnSpPr>
        <p:spPr>
          <a:xfrm flipH="1">
            <a:off x="16413191" y="8535500"/>
            <a:ext cx="1" cy="914400"/>
          </a:xfrm>
          <a:prstGeom prst="line">
            <a:avLst/>
          </a:prstGeom>
          <a:ln w="28575">
            <a:solidFill>
              <a:schemeClr val="accent4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3379147" y="9871019"/>
            <a:ext cx="6023636" cy="58477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3200" b="1" dirty="0">
                <a:solidFill>
                  <a:schemeClr val="tx2"/>
                </a:solidFill>
                <a:latin typeface="Montserrat Bold" charset="0"/>
                <a:ea typeface="Montserrat Bold" charset="0"/>
                <a:cs typeface="Montserrat Bold" charset="0"/>
              </a:rPr>
              <a:t>Initial Draft and Additional Drivers</a:t>
            </a:r>
          </a:p>
        </p:txBody>
      </p:sp>
      <p:sp>
        <p:nvSpPr>
          <p:cNvPr id="24" name="Subtitle 2"/>
          <p:cNvSpPr txBox="1">
            <a:spLocks/>
          </p:cNvSpPr>
          <p:nvPr/>
        </p:nvSpPr>
        <p:spPr>
          <a:xfrm>
            <a:off x="13676491" y="10491205"/>
            <a:ext cx="5498134" cy="1830824"/>
          </a:xfrm>
          <a:prstGeom prst="rect">
            <a:avLst/>
          </a:prstGeom>
        </p:spPr>
        <p:txBody>
          <a:bodyPr vert="horz" wrap="square" lIns="217490" tIns="108745" rIns="217490" bIns="1087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300"/>
              </a:lnSpc>
            </a:pPr>
            <a:r>
              <a:rPr lang="en-US" sz="2800" dirty="0">
                <a:solidFill>
                  <a:schemeClr val="tx1"/>
                </a:solidFill>
                <a:latin typeface="Montserrat Light" charset="0"/>
                <a:ea typeface="Montserrat Light" charset="0"/>
                <a:cs typeface="Montserrat Light" charset="0"/>
              </a:rPr>
              <a:t>Finished up the initial working synthesizer, started working on touchscreen and SDRAM drivers</a:t>
            </a:r>
          </a:p>
        </p:txBody>
      </p:sp>
      <p:cxnSp>
        <p:nvCxnSpPr>
          <p:cNvPr id="25" name="Straight Connector 24"/>
          <p:cNvCxnSpPr/>
          <p:nvPr/>
        </p:nvCxnSpPr>
        <p:spPr>
          <a:xfrm flipV="1">
            <a:off x="20629757" y="5964816"/>
            <a:ext cx="0" cy="914400"/>
          </a:xfrm>
          <a:prstGeom prst="line">
            <a:avLst/>
          </a:prstGeom>
          <a:ln w="28575">
            <a:solidFill>
              <a:schemeClr val="accent5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9567303" y="3712511"/>
            <a:ext cx="2139367" cy="58477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3200" b="1" dirty="0">
                <a:solidFill>
                  <a:schemeClr val="tx2"/>
                </a:solidFill>
                <a:latin typeface="Montserrat Bold" charset="0"/>
                <a:ea typeface="Montserrat Bold" charset="0"/>
                <a:cs typeface="Montserrat Bold" charset="0"/>
              </a:rPr>
              <a:t>Finalization</a:t>
            </a:r>
          </a:p>
        </p:txBody>
      </p:sp>
      <p:sp>
        <p:nvSpPr>
          <p:cNvPr id="27" name="Subtitle 2"/>
          <p:cNvSpPr txBox="1">
            <a:spLocks/>
          </p:cNvSpPr>
          <p:nvPr/>
        </p:nvSpPr>
        <p:spPr>
          <a:xfrm>
            <a:off x="17436100" y="4361321"/>
            <a:ext cx="6387314" cy="1279391"/>
          </a:xfrm>
          <a:prstGeom prst="rect">
            <a:avLst/>
          </a:prstGeom>
        </p:spPr>
        <p:txBody>
          <a:bodyPr vert="horz" wrap="square" lIns="217490" tIns="108745" rIns="217490" bIns="1087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300"/>
              </a:lnSpc>
            </a:pPr>
            <a:r>
              <a:rPr lang="en-US" sz="2800" dirty="0">
                <a:solidFill>
                  <a:schemeClr val="tx1"/>
                </a:solidFill>
                <a:latin typeface="Montserrat Light" charset="0"/>
                <a:ea typeface="Montserrat Light" charset="0"/>
                <a:cs typeface="Montserrat Light" charset="0"/>
              </a:rPr>
              <a:t>Implementation of layering, different instruments, and metronome was added</a:t>
            </a:r>
          </a:p>
        </p:txBody>
      </p:sp>
      <p:cxnSp>
        <p:nvCxnSpPr>
          <p:cNvPr id="28" name="Straight Connector 27"/>
          <p:cNvCxnSpPr/>
          <p:nvPr/>
        </p:nvCxnSpPr>
        <p:spPr>
          <a:xfrm flipV="1">
            <a:off x="3813718" y="5964816"/>
            <a:ext cx="0" cy="914400"/>
          </a:xfrm>
          <a:prstGeom prst="line">
            <a:avLst/>
          </a:prstGeom>
          <a:ln w="28575"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610621" y="3712511"/>
            <a:ext cx="2420663" cy="58477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3200" b="1" dirty="0">
                <a:solidFill>
                  <a:schemeClr val="tx2"/>
                </a:solidFill>
                <a:latin typeface="Montserrat Bold" charset="0"/>
                <a:ea typeface="Montserrat Bold" charset="0"/>
                <a:cs typeface="Montserrat Bold" charset="0"/>
              </a:rPr>
              <a:t>Wave Theory</a:t>
            </a:r>
          </a:p>
        </p:txBody>
      </p:sp>
      <p:sp>
        <p:nvSpPr>
          <p:cNvPr id="30" name="Subtitle 2"/>
          <p:cNvSpPr txBox="1">
            <a:spLocks/>
          </p:cNvSpPr>
          <p:nvPr/>
        </p:nvSpPr>
        <p:spPr>
          <a:xfrm>
            <a:off x="879806" y="4367402"/>
            <a:ext cx="5947486" cy="1279391"/>
          </a:xfrm>
          <a:prstGeom prst="rect">
            <a:avLst/>
          </a:prstGeom>
        </p:spPr>
        <p:txBody>
          <a:bodyPr vert="horz" wrap="square" lIns="217490" tIns="108745" rIns="217490" bIns="1087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300"/>
              </a:lnSpc>
            </a:pPr>
            <a:r>
              <a:rPr lang="en-US" sz="2800" dirty="0">
                <a:solidFill>
                  <a:schemeClr val="tx1"/>
                </a:solidFill>
                <a:latin typeface="Montserrat Light" charset="0"/>
                <a:ea typeface="Montserrat Light" charset="0"/>
                <a:cs typeface="Montserrat Light" charset="0"/>
              </a:rPr>
              <a:t>Decided on what variation of sound to add, implemented triangle waves</a:t>
            </a:r>
          </a:p>
        </p:txBody>
      </p:sp>
      <p:cxnSp>
        <p:nvCxnSpPr>
          <p:cNvPr id="31" name="Straight Connector 30"/>
          <p:cNvCxnSpPr/>
          <p:nvPr/>
        </p:nvCxnSpPr>
        <p:spPr>
          <a:xfrm flipH="1">
            <a:off x="8037697" y="8535500"/>
            <a:ext cx="1" cy="914400"/>
          </a:xfrm>
          <a:prstGeom prst="line">
            <a:avLst/>
          </a:prstGeom>
          <a:ln w="28575">
            <a:solidFill>
              <a:schemeClr val="accent2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933313" y="9871019"/>
            <a:ext cx="6164316" cy="58477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3200" b="1" dirty="0">
                <a:solidFill>
                  <a:schemeClr val="tx2"/>
                </a:solidFill>
                <a:latin typeface="Montserrat Bold" charset="0"/>
                <a:ea typeface="Montserrat Bold" charset="0"/>
                <a:cs typeface="Montserrat Bold" charset="0"/>
              </a:rPr>
              <a:t>Initial Code and Driver Compilation</a:t>
            </a:r>
          </a:p>
        </p:txBody>
      </p:sp>
      <p:sp>
        <p:nvSpPr>
          <p:cNvPr id="33" name="Subtitle 2"/>
          <p:cNvSpPr txBox="1">
            <a:spLocks/>
          </p:cNvSpPr>
          <p:nvPr/>
        </p:nvSpPr>
        <p:spPr>
          <a:xfrm>
            <a:off x="5597328" y="10491205"/>
            <a:ext cx="4836260" cy="1830824"/>
          </a:xfrm>
          <a:prstGeom prst="rect">
            <a:avLst/>
          </a:prstGeom>
        </p:spPr>
        <p:txBody>
          <a:bodyPr vert="horz" wrap="square" lIns="217490" tIns="108745" rIns="217490" bIns="1087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300"/>
              </a:lnSpc>
            </a:pPr>
            <a:r>
              <a:rPr lang="en-US" sz="2800" dirty="0">
                <a:solidFill>
                  <a:schemeClr val="tx1"/>
                </a:solidFill>
                <a:latin typeface="Montserrat Light" charset="0"/>
                <a:ea typeface="Montserrat Light" charset="0"/>
                <a:cs typeface="Montserrat Light" charset="0"/>
              </a:rPr>
              <a:t>Started to code each module, while combining our drivers made from Lab 7</a:t>
            </a:r>
          </a:p>
        </p:txBody>
      </p:sp>
    </p:spTree>
    <p:extLst>
      <p:ext uri="{BB962C8B-B14F-4D97-AF65-F5344CB8AC3E}">
        <p14:creationId xmlns:p14="http://schemas.microsoft.com/office/powerpoint/2010/main" val="119204977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7811799" y="1188433"/>
            <a:ext cx="8764259" cy="12775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0000"/>
              </a:lnSpc>
            </a:pPr>
            <a:r>
              <a:rPr lang="en-US" sz="6600" b="1" dirty="0">
                <a:solidFill>
                  <a:schemeClr val="tx2"/>
                </a:solidFill>
                <a:latin typeface="Montserrat Bold" charset="0"/>
                <a:ea typeface="Montserrat Bold" charset="0"/>
                <a:cs typeface="Montserrat Bold" charset="0"/>
              </a:rPr>
              <a:t>Time Spent on Each Task</a:t>
            </a:r>
          </a:p>
        </p:txBody>
      </p:sp>
      <p:sp>
        <p:nvSpPr>
          <p:cNvPr id="25" name="Oval 24"/>
          <p:cNvSpPr/>
          <p:nvPr/>
        </p:nvSpPr>
        <p:spPr>
          <a:xfrm>
            <a:off x="2395062" y="4349284"/>
            <a:ext cx="3834262" cy="3834262"/>
          </a:xfrm>
          <a:prstGeom prst="ellipse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sz="2399" dirty="0">
              <a:solidFill>
                <a:srgbClr val="FFFFFF"/>
              </a:solidFill>
              <a:latin typeface="Open Sans Regular" charset="0"/>
            </a:endParaRPr>
          </a:p>
        </p:txBody>
      </p:sp>
      <p:sp>
        <p:nvSpPr>
          <p:cNvPr id="37" name="Pie 36"/>
          <p:cNvSpPr/>
          <p:nvPr/>
        </p:nvSpPr>
        <p:spPr>
          <a:xfrm flipH="1">
            <a:off x="2395062" y="4349284"/>
            <a:ext cx="3834262" cy="3834262"/>
          </a:xfrm>
          <a:prstGeom prst="pie">
            <a:avLst>
              <a:gd name="adj1" fmla="val 7325257"/>
              <a:gd name="adj2" fmla="val 162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sz="2399" dirty="0">
              <a:solidFill>
                <a:srgbClr val="FFFFFF"/>
              </a:solidFill>
              <a:latin typeface="Open Sans Regular" charset="0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2700957" y="4655179"/>
            <a:ext cx="3222471" cy="3222471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sz="2399" dirty="0">
              <a:solidFill>
                <a:schemeClr val="tx1"/>
              </a:solidFill>
              <a:latin typeface="Open Sans Regular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7591531" y="4349284"/>
            <a:ext cx="3834262" cy="3834262"/>
          </a:xfrm>
          <a:prstGeom prst="ellipse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sz="2399" dirty="0">
              <a:solidFill>
                <a:srgbClr val="FFFFFF"/>
              </a:solidFill>
              <a:latin typeface="Open Sans Regular" charset="0"/>
            </a:endParaRPr>
          </a:p>
        </p:txBody>
      </p:sp>
      <p:sp>
        <p:nvSpPr>
          <p:cNvPr id="41" name="Pie 40"/>
          <p:cNvSpPr/>
          <p:nvPr/>
        </p:nvSpPr>
        <p:spPr>
          <a:xfrm flipH="1">
            <a:off x="7591531" y="4349284"/>
            <a:ext cx="3834262" cy="3834262"/>
          </a:xfrm>
          <a:prstGeom prst="pie">
            <a:avLst>
              <a:gd name="adj1" fmla="val 10821194"/>
              <a:gd name="adj2" fmla="val 1620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sz="2399" dirty="0">
              <a:solidFill>
                <a:srgbClr val="FFFFFF"/>
              </a:solidFill>
              <a:latin typeface="Open Sans Regular" charset="0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7897426" y="4655179"/>
            <a:ext cx="3222471" cy="3222471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sz="2399" dirty="0">
              <a:solidFill>
                <a:schemeClr val="tx1"/>
              </a:solidFill>
              <a:latin typeface="Open Sans Regular" charset="0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12854636" y="4349284"/>
            <a:ext cx="3834262" cy="3834262"/>
          </a:xfrm>
          <a:prstGeom prst="ellipse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sz="2399" dirty="0">
              <a:solidFill>
                <a:srgbClr val="FFFFFF"/>
              </a:solidFill>
              <a:latin typeface="Open Sans Regular" charset="0"/>
            </a:endParaRPr>
          </a:p>
        </p:txBody>
      </p:sp>
      <p:sp>
        <p:nvSpPr>
          <p:cNvPr id="45" name="Pie 44"/>
          <p:cNvSpPr/>
          <p:nvPr/>
        </p:nvSpPr>
        <p:spPr>
          <a:xfrm flipH="1">
            <a:off x="12854636" y="4349284"/>
            <a:ext cx="3834262" cy="3834262"/>
          </a:xfrm>
          <a:prstGeom prst="pie">
            <a:avLst>
              <a:gd name="adj1" fmla="val 11960815"/>
              <a:gd name="adj2" fmla="val 1620000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sz="2399" dirty="0">
              <a:solidFill>
                <a:srgbClr val="FFFFFF"/>
              </a:solidFill>
              <a:latin typeface="Open Sans Regular" charset="0"/>
            </a:endParaRPr>
          </a:p>
        </p:txBody>
      </p:sp>
      <p:sp>
        <p:nvSpPr>
          <p:cNvPr id="46" name="Oval 45"/>
          <p:cNvSpPr/>
          <p:nvPr/>
        </p:nvSpPr>
        <p:spPr>
          <a:xfrm>
            <a:off x="13160531" y="4655179"/>
            <a:ext cx="3222471" cy="3222471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sz="2399" dirty="0">
              <a:solidFill>
                <a:schemeClr val="tx1"/>
              </a:solidFill>
              <a:latin typeface="Open Sans Regular" charset="0"/>
            </a:endParaRPr>
          </a:p>
        </p:txBody>
      </p:sp>
      <p:sp>
        <p:nvSpPr>
          <p:cNvPr id="48" name="Oval 47"/>
          <p:cNvSpPr/>
          <p:nvPr/>
        </p:nvSpPr>
        <p:spPr>
          <a:xfrm>
            <a:off x="18125022" y="4349284"/>
            <a:ext cx="3834262" cy="3834262"/>
          </a:xfrm>
          <a:prstGeom prst="ellipse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sz="2399" dirty="0">
              <a:solidFill>
                <a:srgbClr val="FFFFFF"/>
              </a:solidFill>
              <a:latin typeface="Open Sans Regular" charset="0"/>
            </a:endParaRPr>
          </a:p>
        </p:txBody>
      </p:sp>
      <p:sp>
        <p:nvSpPr>
          <p:cNvPr id="49" name="Pie 48"/>
          <p:cNvSpPr/>
          <p:nvPr/>
        </p:nvSpPr>
        <p:spPr>
          <a:xfrm flipH="1">
            <a:off x="18125022" y="4349284"/>
            <a:ext cx="3834262" cy="3834262"/>
          </a:xfrm>
          <a:prstGeom prst="pie">
            <a:avLst>
              <a:gd name="adj1" fmla="val 12814962"/>
              <a:gd name="adj2" fmla="val 16200000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sz="2399" dirty="0">
              <a:solidFill>
                <a:srgbClr val="FFFFFF"/>
              </a:solidFill>
              <a:latin typeface="Open Sans Regular" charset="0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18430917" y="4655179"/>
            <a:ext cx="3222471" cy="3222471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sz="2399" dirty="0">
              <a:solidFill>
                <a:schemeClr val="tx1"/>
              </a:solidFill>
              <a:latin typeface="Open Sans Regular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183253" y="6051471"/>
            <a:ext cx="804708" cy="47775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ts val="3733"/>
              </a:lnSpc>
              <a:spcAft>
                <a:spcPts val="3199"/>
              </a:spcAft>
            </a:pPr>
            <a:r>
              <a:rPr lang="en-US" b="1" dirty="0">
                <a:solidFill>
                  <a:schemeClr val="tx2"/>
                </a:solidFill>
                <a:latin typeface="Montserrat Bold" charset="0"/>
                <a:ea typeface="Montserrat Bold" charset="0"/>
                <a:cs typeface="Montserrat Bold" charset="0"/>
              </a:rPr>
              <a:t>25%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446357" y="6051471"/>
            <a:ext cx="804708" cy="47775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ts val="3733"/>
              </a:lnSpc>
              <a:spcAft>
                <a:spcPts val="3199"/>
              </a:spcAft>
            </a:pPr>
            <a:r>
              <a:rPr lang="en-US" b="1" dirty="0">
                <a:solidFill>
                  <a:schemeClr val="tx2"/>
                </a:solidFill>
                <a:latin typeface="Montserrat Bold" charset="0"/>
                <a:ea typeface="Montserrat Bold" charset="0"/>
                <a:cs typeface="Montserrat Bold" charset="0"/>
              </a:rPr>
              <a:t>20%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684399" y="6051471"/>
            <a:ext cx="804707" cy="47775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ts val="3733"/>
              </a:lnSpc>
              <a:spcAft>
                <a:spcPts val="3199"/>
              </a:spcAft>
            </a:pPr>
            <a:r>
              <a:rPr lang="en-US" b="1" dirty="0">
                <a:solidFill>
                  <a:schemeClr val="tx2"/>
                </a:solidFill>
                <a:latin typeface="Montserrat Bold" charset="0"/>
                <a:ea typeface="Montserrat Bold" charset="0"/>
                <a:cs typeface="Montserrat Bold" charset="0"/>
              </a:rPr>
              <a:t>15%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54446" y="6051471"/>
            <a:ext cx="804708" cy="47775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ts val="3733"/>
              </a:lnSpc>
              <a:spcAft>
                <a:spcPts val="3199"/>
              </a:spcAft>
            </a:pPr>
            <a:r>
              <a:rPr lang="en-US" b="1" dirty="0">
                <a:solidFill>
                  <a:schemeClr val="tx2"/>
                </a:solidFill>
                <a:latin typeface="Montserrat Bold" charset="0"/>
                <a:ea typeface="Montserrat Bold" charset="0"/>
                <a:cs typeface="Montserrat Bold" charset="0"/>
              </a:rPr>
              <a:t>40%</a:t>
            </a:r>
          </a:p>
        </p:txBody>
      </p:sp>
      <p:sp>
        <p:nvSpPr>
          <p:cNvPr id="56" name="Subtitle 2"/>
          <p:cNvSpPr txBox="1">
            <a:spLocks/>
          </p:cNvSpPr>
          <p:nvPr/>
        </p:nvSpPr>
        <p:spPr>
          <a:xfrm>
            <a:off x="7090531" y="8513614"/>
            <a:ext cx="4836260" cy="2395851"/>
          </a:xfrm>
          <a:prstGeom prst="rect">
            <a:avLst/>
          </a:prstGeom>
        </p:spPr>
        <p:txBody>
          <a:bodyPr vert="horz" wrap="square" lIns="217490" tIns="108745" rIns="217490" bIns="1087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300"/>
              </a:lnSpc>
            </a:pPr>
            <a:r>
              <a:rPr lang="en-US" sz="3200" dirty="0">
                <a:solidFill>
                  <a:schemeClr val="tx1"/>
                </a:solidFill>
                <a:latin typeface="Montserrat Light" charset="0"/>
                <a:ea typeface="Montserrat Light" charset="0"/>
                <a:cs typeface="Montserrat Light" charset="0"/>
              </a:rPr>
              <a:t>Implementing triangle waves and note theory,                           </a:t>
            </a:r>
            <a:r>
              <a:rPr lang="en-US" sz="3200" b="1" dirty="0">
                <a:solidFill>
                  <a:schemeClr val="tx1"/>
                </a:solidFill>
                <a:latin typeface="Montserrat Light" charset="0"/>
                <a:ea typeface="Montserrat Light" charset="0"/>
                <a:cs typeface="Montserrat Light" charset="0"/>
              </a:rPr>
              <a:t>never got to wave modulation in prototype</a:t>
            </a:r>
          </a:p>
        </p:txBody>
      </p:sp>
      <p:sp>
        <p:nvSpPr>
          <p:cNvPr id="58" name="Subtitle 2"/>
          <p:cNvSpPr txBox="1">
            <a:spLocks/>
          </p:cNvSpPr>
          <p:nvPr/>
        </p:nvSpPr>
        <p:spPr>
          <a:xfrm>
            <a:off x="12337087" y="8513614"/>
            <a:ext cx="4836260" cy="2395851"/>
          </a:xfrm>
          <a:prstGeom prst="rect">
            <a:avLst/>
          </a:prstGeom>
        </p:spPr>
        <p:txBody>
          <a:bodyPr vert="horz" wrap="square" lIns="217490" tIns="108745" rIns="217490" bIns="1087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300"/>
              </a:lnSpc>
            </a:pPr>
            <a:r>
              <a:rPr lang="en-US" sz="3200" dirty="0">
                <a:solidFill>
                  <a:schemeClr val="tx1"/>
                </a:solidFill>
                <a:latin typeface="Montserrat Light" charset="0"/>
                <a:ea typeface="Montserrat Light" charset="0"/>
                <a:cs typeface="Montserrat Light" charset="0"/>
              </a:rPr>
              <a:t>Adding touchscreen + VGA, along with designing a GUI for controlling various functions</a:t>
            </a:r>
          </a:p>
        </p:txBody>
      </p:sp>
      <p:sp>
        <p:nvSpPr>
          <p:cNvPr id="60" name="Subtitle 2"/>
          <p:cNvSpPr txBox="1">
            <a:spLocks/>
          </p:cNvSpPr>
          <p:nvPr/>
        </p:nvSpPr>
        <p:spPr>
          <a:xfrm>
            <a:off x="17645833" y="8513614"/>
            <a:ext cx="4836260" cy="2395851"/>
          </a:xfrm>
          <a:prstGeom prst="rect">
            <a:avLst/>
          </a:prstGeom>
        </p:spPr>
        <p:txBody>
          <a:bodyPr vert="horz" wrap="square" lIns="217490" tIns="108745" rIns="217490" bIns="1087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300"/>
              </a:lnSpc>
            </a:pPr>
            <a:r>
              <a:rPr lang="en-US" sz="3200" dirty="0">
                <a:solidFill>
                  <a:schemeClr val="tx1"/>
                </a:solidFill>
                <a:latin typeface="Montserrat Light" charset="0"/>
                <a:ea typeface="Montserrat Light" charset="0"/>
                <a:cs typeface="Montserrat Light" charset="0"/>
              </a:rPr>
              <a:t>Combining drivers, combinational logic, converting files for playback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F505077C-EE37-4A27-8277-ED6FB63F15E3}"/>
              </a:ext>
            </a:extLst>
          </p:cNvPr>
          <p:cNvSpPr txBox="1">
            <a:spLocks/>
          </p:cNvSpPr>
          <p:nvPr/>
        </p:nvSpPr>
        <p:spPr>
          <a:xfrm>
            <a:off x="1938670" y="8489441"/>
            <a:ext cx="4836260" cy="2395851"/>
          </a:xfrm>
          <a:prstGeom prst="rect">
            <a:avLst/>
          </a:prstGeom>
        </p:spPr>
        <p:txBody>
          <a:bodyPr vert="horz" wrap="square" lIns="217490" tIns="108745" rIns="217490" bIns="1087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300"/>
              </a:lnSpc>
            </a:pPr>
            <a:r>
              <a:rPr lang="en-US" sz="3200" dirty="0">
                <a:solidFill>
                  <a:schemeClr val="tx1"/>
                </a:solidFill>
                <a:latin typeface="Montserrat Light" charset="0"/>
                <a:ea typeface="Montserrat Light" charset="0"/>
                <a:cs typeface="Montserrat Light" charset="0"/>
              </a:rPr>
              <a:t>Implementing layering and different instrument playing capabilities from SDRAM</a:t>
            </a:r>
          </a:p>
        </p:txBody>
      </p:sp>
    </p:spTree>
    <p:extLst>
      <p:ext uri="{BB962C8B-B14F-4D97-AF65-F5344CB8AC3E}">
        <p14:creationId xmlns:p14="http://schemas.microsoft.com/office/powerpoint/2010/main" val="7153977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158D6853-1888-4D26-B46D-AA1A69D9A0FA}"/>
              </a:ext>
            </a:extLst>
          </p:cNvPr>
          <p:cNvSpPr txBox="1">
            <a:spLocks/>
          </p:cNvSpPr>
          <p:nvPr/>
        </p:nvSpPr>
        <p:spPr>
          <a:xfrm>
            <a:off x="3575767" y="5393976"/>
            <a:ext cx="17226116" cy="2928048"/>
          </a:xfrm>
          <a:prstGeom prst="rect">
            <a:avLst/>
          </a:prstGeom>
        </p:spPr>
        <p:txBody>
          <a:bodyPr vert="horz" wrap="square" lIns="217490" tIns="108745" rIns="217490" bIns="1087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Aft>
                <a:spcPts val="2400"/>
              </a:spcAft>
            </a:pPr>
            <a:r>
              <a:rPr lang="en-US" sz="8800" dirty="0">
                <a:latin typeface="Montserrat Light" charset="0"/>
                <a:ea typeface="Montserrat Light" charset="0"/>
                <a:cs typeface="Montserrat Light" charset="0"/>
              </a:rPr>
              <a:t>Stratum was created with </a:t>
            </a:r>
            <a:r>
              <a:rPr lang="en-US" sz="8800" b="1" dirty="0">
                <a:latin typeface="Montserrat Light" charset="0"/>
                <a:ea typeface="Montserrat Light" charset="0"/>
                <a:cs typeface="Montserrat Light" charset="0"/>
              </a:rPr>
              <a:t>simplicity</a:t>
            </a:r>
            <a:r>
              <a:rPr lang="en-US" sz="8800" dirty="0">
                <a:latin typeface="Montserrat Light" charset="0"/>
                <a:ea typeface="Montserrat Light" charset="0"/>
                <a:cs typeface="Montserrat Light" charset="0"/>
              </a:rPr>
              <a:t>, </a:t>
            </a:r>
            <a:r>
              <a:rPr lang="en-US" sz="8800" b="1" dirty="0">
                <a:latin typeface="Montserrat Light" charset="0"/>
                <a:ea typeface="Montserrat Light" charset="0"/>
                <a:cs typeface="Montserrat Light" charset="0"/>
              </a:rPr>
              <a:t>functionality</a:t>
            </a:r>
            <a:r>
              <a:rPr lang="en-US" sz="8800" dirty="0">
                <a:latin typeface="Montserrat Light" charset="0"/>
                <a:ea typeface="Montserrat Light" charset="0"/>
                <a:cs typeface="Montserrat Light" charset="0"/>
              </a:rPr>
              <a:t>, and </a:t>
            </a:r>
            <a:r>
              <a:rPr lang="en-US" sz="8800" b="1" dirty="0">
                <a:latin typeface="Montserrat Light" charset="0"/>
                <a:ea typeface="Montserrat Light" charset="0"/>
                <a:cs typeface="Montserrat Light" charset="0"/>
              </a:rPr>
              <a:t>usability</a:t>
            </a:r>
            <a:r>
              <a:rPr lang="en-US" sz="8800" dirty="0">
                <a:latin typeface="Montserrat Light" charset="0"/>
                <a:ea typeface="Montserrat Light" charset="0"/>
                <a:cs typeface="Montserrat Light" charset="0"/>
              </a:rPr>
              <a:t> in mind.</a:t>
            </a:r>
            <a:endParaRPr lang="en-US" sz="8800" b="1" dirty="0">
              <a:latin typeface="Montserrat Light" charset="0"/>
              <a:ea typeface="Montserrat Light" charset="0"/>
              <a:cs typeface="Montserrat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2243149"/>
      </p:ext>
    </p:extLst>
  </p:cSld>
  <p:clrMapOvr>
    <a:masterClrMapping/>
  </p:clrMapOvr>
  <p:transition advClick="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11809506" y="3683631"/>
            <a:ext cx="696091" cy="696091"/>
            <a:chOff x="3661569" y="4579937"/>
            <a:chExt cx="250825" cy="250825"/>
          </a:xfrm>
          <a:solidFill>
            <a:schemeClr val="bg1"/>
          </a:solidFill>
        </p:grpSpPr>
        <p:sp>
          <p:nvSpPr>
            <p:cNvPr id="40" name="Freeform 245"/>
            <p:cNvSpPr>
              <a:spLocks noChangeArrowheads="1"/>
            </p:cNvSpPr>
            <p:nvPr/>
          </p:nvSpPr>
          <p:spPr bwMode="auto">
            <a:xfrm>
              <a:off x="3661569" y="4579937"/>
              <a:ext cx="250825" cy="250825"/>
            </a:xfrm>
            <a:custGeom>
              <a:avLst/>
              <a:gdLst>
                <a:gd name="T0" fmla="*/ 651 w 698"/>
                <a:gd name="T1" fmla="*/ 504 h 698"/>
                <a:gd name="T2" fmla="*/ 46 w 698"/>
                <a:gd name="T3" fmla="*/ 504 h 698"/>
                <a:gd name="T4" fmla="*/ 46 w 698"/>
                <a:gd name="T5" fmla="*/ 67 h 698"/>
                <a:gd name="T6" fmla="*/ 651 w 698"/>
                <a:gd name="T7" fmla="*/ 67 h 698"/>
                <a:gd name="T8" fmla="*/ 651 w 698"/>
                <a:gd name="T9" fmla="*/ 504 h 698"/>
                <a:gd name="T10" fmla="*/ 34 w 698"/>
                <a:gd name="T11" fmla="*/ 26 h 698"/>
                <a:gd name="T12" fmla="*/ 663 w 698"/>
                <a:gd name="T13" fmla="*/ 26 h 698"/>
                <a:gd name="T14" fmla="*/ 663 w 698"/>
                <a:gd name="T15" fmla="*/ 26 h 698"/>
                <a:gd name="T16" fmla="*/ 671 w 698"/>
                <a:gd name="T17" fmla="*/ 34 h 698"/>
                <a:gd name="T18" fmla="*/ 671 w 698"/>
                <a:gd name="T19" fmla="*/ 34 h 698"/>
                <a:gd name="T20" fmla="*/ 663 w 698"/>
                <a:gd name="T21" fmla="*/ 42 h 698"/>
                <a:gd name="T22" fmla="*/ 34 w 698"/>
                <a:gd name="T23" fmla="*/ 42 h 698"/>
                <a:gd name="T24" fmla="*/ 34 w 698"/>
                <a:gd name="T25" fmla="*/ 42 h 698"/>
                <a:gd name="T26" fmla="*/ 25 w 698"/>
                <a:gd name="T27" fmla="*/ 34 h 698"/>
                <a:gd name="T28" fmla="*/ 25 w 698"/>
                <a:gd name="T29" fmla="*/ 34 h 698"/>
                <a:gd name="T30" fmla="*/ 34 w 698"/>
                <a:gd name="T31" fmla="*/ 26 h 698"/>
                <a:gd name="T32" fmla="*/ 663 w 698"/>
                <a:gd name="T33" fmla="*/ 0 h 698"/>
                <a:gd name="T34" fmla="*/ 34 w 698"/>
                <a:gd name="T35" fmla="*/ 0 h 698"/>
                <a:gd name="T36" fmla="*/ 34 w 698"/>
                <a:gd name="T37" fmla="*/ 0 h 698"/>
                <a:gd name="T38" fmla="*/ 0 w 698"/>
                <a:gd name="T39" fmla="*/ 34 h 698"/>
                <a:gd name="T40" fmla="*/ 0 w 698"/>
                <a:gd name="T41" fmla="*/ 34 h 698"/>
                <a:gd name="T42" fmla="*/ 21 w 698"/>
                <a:gd name="T43" fmla="*/ 65 h 698"/>
                <a:gd name="T44" fmla="*/ 21 w 698"/>
                <a:gd name="T45" fmla="*/ 517 h 698"/>
                <a:gd name="T46" fmla="*/ 21 w 698"/>
                <a:gd name="T47" fmla="*/ 517 h 698"/>
                <a:gd name="T48" fmla="*/ 34 w 698"/>
                <a:gd name="T49" fmla="*/ 530 h 698"/>
                <a:gd name="T50" fmla="*/ 336 w 698"/>
                <a:gd name="T51" fmla="*/ 530 h 698"/>
                <a:gd name="T52" fmla="*/ 336 w 698"/>
                <a:gd name="T53" fmla="*/ 592 h 698"/>
                <a:gd name="T54" fmla="*/ 134 w 698"/>
                <a:gd name="T55" fmla="*/ 673 h 698"/>
                <a:gd name="T56" fmla="*/ 134 w 698"/>
                <a:gd name="T57" fmla="*/ 673 h 698"/>
                <a:gd name="T58" fmla="*/ 127 w 698"/>
                <a:gd name="T59" fmla="*/ 689 h 698"/>
                <a:gd name="T60" fmla="*/ 127 w 698"/>
                <a:gd name="T61" fmla="*/ 689 h 698"/>
                <a:gd name="T62" fmla="*/ 139 w 698"/>
                <a:gd name="T63" fmla="*/ 697 h 698"/>
                <a:gd name="T64" fmla="*/ 139 w 698"/>
                <a:gd name="T65" fmla="*/ 697 h 698"/>
                <a:gd name="T66" fmla="*/ 143 w 698"/>
                <a:gd name="T67" fmla="*/ 696 h 698"/>
                <a:gd name="T68" fmla="*/ 349 w 698"/>
                <a:gd name="T69" fmla="*/ 614 h 698"/>
                <a:gd name="T70" fmla="*/ 553 w 698"/>
                <a:gd name="T71" fmla="*/ 696 h 698"/>
                <a:gd name="T72" fmla="*/ 553 w 698"/>
                <a:gd name="T73" fmla="*/ 696 h 698"/>
                <a:gd name="T74" fmla="*/ 558 w 698"/>
                <a:gd name="T75" fmla="*/ 697 h 698"/>
                <a:gd name="T76" fmla="*/ 558 w 698"/>
                <a:gd name="T77" fmla="*/ 697 h 698"/>
                <a:gd name="T78" fmla="*/ 570 w 698"/>
                <a:gd name="T79" fmla="*/ 689 h 698"/>
                <a:gd name="T80" fmla="*/ 570 w 698"/>
                <a:gd name="T81" fmla="*/ 689 h 698"/>
                <a:gd name="T82" fmla="*/ 563 w 698"/>
                <a:gd name="T83" fmla="*/ 673 h 698"/>
                <a:gd name="T84" fmla="*/ 360 w 698"/>
                <a:gd name="T85" fmla="*/ 592 h 698"/>
                <a:gd name="T86" fmla="*/ 360 w 698"/>
                <a:gd name="T87" fmla="*/ 530 h 698"/>
                <a:gd name="T88" fmla="*/ 663 w 698"/>
                <a:gd name="T89" fmla="*/ 530 h 698"/>
                <a:gd name="T90" fmla="*/ 663 w 698"/>
                <a:gd name="T91" fmla="*/ 530 h 698"/>
                <a:gd name="T92" fmla="*/ 676 w 698"/>
                <a:gd name="T93" fmla="*/ 517 h 698"/>
                <a:gd name="T94" fmla="*/ 676 w 698"/>
                <a:gd name="T95" fmla="*/ 65 h 698"/>
                <a:gd name="T96" fmla="*/ 676 w 698"/>
                <a:gd name="T97" fmla="*/ 65 h 698"/>
                <a:gd name="T98" fmla="*/ 697 w 698"/>
                <a:gd name="T99" fmla="*/ 34 h 698"/>
                <a:gd name="T100" fmla="*/ 697 w 698"/>
                <a:gd name="T101" fmla="*/ 34 h 698"/>
                <a:gd name="T102" fmla="*/ 663 w 698"/>
                <a:gd name="T103" fmla="*/ 0 h 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98" h="698">
                  <a:moveTo>
                    <a:pt x="651" y="504"/>
                  </a:moveTo>
                  <a:lnTo>
                    <a:pt x="46" y="504"/>
                  </a:lnTo>
                  <a:lnTo>
                    <a:pt x="46" y="67"/>
                  </a:lnTo>
                  <a:lnTo>
                    <a:pt x="651" y="67"/>
                  </a:lnTo>
                  <a:lnTo>
                    <a:pt x="651" y="504"/>
                  </a:lnTo>
                  <a:close/>
                  <a:moveTo>
                    <a:pt x="34" y="26"/>
                  </a:moveTo>
                  <a:lnTo>
                    <a:pt x="663" y="26"/>
                  </a:lnTo>
                  <a:lnTo>
                    <a:pt x="663" y="26"/>
                  </a:lnTo>
                  <a:cubicBezTo>
                    <a:pt x="668" y="26"/>
                    <a:pt x="671" y="29"/>
                    <a:pt x="671" y="34"/>
                  </a:cubicBezTo>
                  <a:lnTo>
                    <a:pt x="671" y="34"/>
                  </a:lnTo>
                  <a:cubicBezTo>
                    <a:pt x="671" y="39"/>
                    <a:pt x="668" y="42"/>
                    <a:pt x="663" y="42"/>
                  </a:cubicBezTo>
                  <a:lnTo>
                    <a:pt x="34" y="42"/>
                  </a:lnTo>
                  <a:lnTo>
                    <a:pt x="34" y="42"/>
                  </a:lnTo>
                  <a:cubicBezTo>
                    <a:pt x="29" y="42"/>
                    <a:pt x="25" y="39"/>
                    <a:pt x="25" y="34"/>
                  </a:cubicBezTo>
                  <a:lnTo>
                    <a:pt x="25" y="34"/>
                  </a:lnTo>
                  <a:cubicBezTo>
                    <a:pt x="25" y="29"/>
                    <a:pt x="29" y="26"/>
                    <a:pt x="34" y="26"/>
                  </a:cubicBezTo>
                  <a:close/>
                  <a:moveTo>
                    <a:pt x="663" y="0"/>
                  </a:moveTo>
                  <a:lnTo>
                    <a:pt x="34" y="0"/>
                  </a:lnTo>
                  <a:lnTo>
                    <a:pt x="34" y="0"/>
                  </a:lnTo>
                  <a:cubicBezTo>
                    <a:pt x="15" y="0"/>
                    <a:pt x="0" y="15"/>
                    <a:pt x="0" y="34"/>
                  </a:cubicBezTo>
                  <a:lnTo>
                    <a:pt x="0" y="34"/>
                  </a:lnTo>
                  <a:cubicBezTo>
                    <a:pt x="0" y="48"/>
                    <a:pt x="8" y="60"/>
                    <a:pt x="21" y="65"/>
                  </a:cubicBezTo>
                  <a:lnTo>
                    <a:pt x="21" y="517"/>
                  </a:lnTo>
                  <a:lnTo>
                    <a:pt x="21" y="517"/>
                  </a:lnTo>
                  <a:cubicBezTo>
                    <a:pt x="21" y="524"/>
                    <a:pt x="27" y="530"/>
                    <a:pt x="34" y="530"/>
                  </a:cubicBezTo>
                  <a:lnTo>
                    <a:pt x="336" y="530"/>
                  </a:lnTo>
                  <a:lnTo>
                    <a:pt x="336" y="592"/>
                  </a:lnTo>
                  <a:lnTo>
                    <a:pt x="134" y="673"/>
                  </a:lnTo>
                  <a:lnTo>
                    <a:pt x="134" y="673"/>
                  </a:lnTo>
                  <a:cubicBezTo>
                    <a:pt x="128" y="675"/>
                    <a:pt x="124" y="683"/>
                    <a:pt x="127" y="689"/>
                  </a:cubicBezTo>
                  <a:lnTo>
                    <a:pt x="127" y="689"/>
                  </a:lnTo>
                  <a:cubicBezTo>
                    <a:pt x="129" y="694"/>
                    <a:pt x="134" y="697"/>
                    <a:pt x="139" y="697"/>
                  </a:cubicBezTo>
                  <a:lnTo>
                    <a:pt x="139" y="697"/>
                  </a:lnTo>
                  <a:cubicBezTo>
                    <a:pt x="140" y="697"/>
                    <a:pt x="141" y="697"/>
                    <a:pt x="143" y="696"/>
                  </a:cubicBezTo>
                  <a:lnTo>
                    <a:pt x="349" y="614"/>
                  </a:lnTo>
                  <a:lnTo>
                    <a:pt x="553" y="696"/>
                  </a:lnTo>
                  <a:lnTo>
                    <a:pt x="553" y="696"/>
                  </a:lnTo>
                  <a:cubicBezTo>
                    <a:pt x="555" y="697"/>
                    <a:pt x="557" y="697"/>
                    <a:pt x="558" y="697"/>
                  </a:cubicBezTo>
                  <a:lnTo>
                    <a:pt x="558" y="697"/>
                  </a:lnTo>
                  <a:cubicBezTo>
                    <a:pt x="563" y="697"/>
                    <a:pt x="568" y="694"/>
                    <a:pt x="570" y="689"/>
                  </a:cubicBezTo>
                  <a:lnTo>
                    <a:pt x="570" y="689"/>
                  </a:lnTo>
                  <a:cubicBezTo>
                    <a:pt x="573" y="683"/>
                    <a:pt x="569" y="675"/>
                    <a:pt x="563" y="673"/>
                  </a:cubicBezTo>
                  <a:lnTo>
                    <a:pt x="360" y="592"/>
                  </a:lnTo>
                  <a:lnTo>
                    <a:pt x="360" y="530"/>
                  </a:lnTo>
                  <a:lnTo>
                    <a:pt x="663" y="530"/>
                  </a:lnTo>
                  <a:lnTo>
                    <a:pt x="663" y="530"/>
                  </a:lnTo>
                  <a:cubicBezTo>
                    <a:pt x="670" y="530"/>
                    <a:pt x="676" y="524"/>
                    <a:pt x="676" y="517"/>
                  </a:cubicBezTo>
                  <a:lnTo>
                    <a:pt x="676" y="65"/>
                  </a:lnTo>
                  <a:lnTo>
                    <a:pt x="676" y="65"/>
                  </a:lnTo>
                  <a:cubicBezTo>
                    <a:pt x="688" y="60"/>
                    <a:pt x="697" y="48"/>
                    <a:pt x="697" y="34"/>
                  </a:cubicBezTo>
                  <a:lnTo>
                    <a:pt x="697" y="34"/>
                  </a:lnTo>
                  <a:cubicBezTo>
                    <a:pt x="697" y="15"/>
                    <a:pt x="681" y="0"/>
                    <a:pt x="663" y="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7197" dirty="0">
                <a:latin typeface="Open Sans Regular" charset="0"/>
              </a:endParaRPr>
            </a:p>
          </p:txBody>
        </p:sp>
        <p:sp>
          <p:nvSpPr>
            <p:cNvPr id="41" name="Freeform 246"/>
            <p:cNvSpPr>
              <a:spLocks noChangeArrowheads="1"/>
            </p:cNvSpPr>
            <p:nvPr/>
          </p:nvSpPr>
          <p:spPr bwMode="auto">
            <a:xfrm>
              <a:off x="3736182" y="4632325"/>
              <a:ext cx="100012" cy="100012"/>
            </a:xfrm>
            <a:custGeom>
              <a:avLst/>
              <a:gdLst>
                <a:gd name="T0" fmla="*/ 126 w 278"/>
                <a:gd name="T1" fmla="*/ 27 h 278"/>
                <a:gd name="T2" fmla="*/ 126 w 278"/>
                <a:gd name="T3" fmla="*/ 152 h 278"/>
                <a:gd name="T4" fmla="*/ 250 w 278"/>
                <a:gd name="T5" fmla="*/ 152 h 278"/>
                <a:gd name="T6" fmla="*/ 250 w 278"/>
                <a:gd name="T7" fmla="*/ 152 h 278"/>
                <a:gd name="T8" fmla="*/ 138 w 278"/>
                <a:gd name="T9" fmla="*/ 252 h 278"/>
                <a:gd name="T10" fmla="*/ 138 w 278"/>
                <a:gd name="T11" fmla="*/ 252 h 278"/>
                <a:gd name="T12" fmla="*/ 25 w 278"/>
                <a:gd name="T13" fmla="*/ 139 h 278"/>
                <a:gd name="T14" fmla="*/ 25 w 278"/>
                <a:gd name="T15" fmla="*/ 139 h 278"/>
                <a:gd name="T16" fmla="*/ 126 w 278"/>
                <a:gd name="T17" fmla="*/ 27 h 278"/>
                <a:gd name="T18" fmla="*/ 250 w 278"/>
                <a:gd name="T19" fmla="*/ 126 h 278"/>
                <a:gd name="T20" fmla="*/ 150 w 278"/>
                <a:gd name="T21" fmla="*/ 126 h 278"/>
                <a:gd name="T22" fmla="*/ 150 w 278"/>
                <a:gd name="T23" fmla="*/ 27 h 278"/>
                <a:gd name="T24" fmla="*/ 150 w 278"/>
                <a:gd name="T25" fmla="*/ 27 h 278"/>
                <a:gd name="T26" fmla="*/ 250 w 278"/>
                <a:gd name="T27" fmla="*/ 126 h 278"/>
                <a:gd name="T28" fmla="*/ 138 w 278"/>
                <a:gd name="T29" fmla="*/ 277 h 278"/>
                <a:gd name="T30" fmla="*/ 138 w 278"/>
                <a:gd name="T31" fmla="*/ 277 h 278"/>
                <a:gd name="T32" fmla="*/ 277 w 278"/>
                <a:gd name="T33" fmla="*/ 139 h 278"/>
                <a:gd name="T34" fmla="*/ 277 w 278"/>
                <a:gd name="T35" fmla="*/ 139 h 278"/>
                <a:gd name="T36" fmla="*/ 138 w 278"/>
                <a:gd name="T37" fmla="*/ 0 h 278"/>
                <a:gd name="T38" fmla="*/ 138 w 278"/>
                <a:gd name="T39" fmla="*/ 0 h 278"/>
                <a:gd name="T40" fmla="*/ 0 w 278"/>
                <a:gd name="T41" fmla="*/ 139 h 278"/>
                <a:gd name="T42" fmla="*/ 0 w 278"/>
                <a:gd name="T43" fmla="*/ 139 h 278"/>
                <a:gd name="T44" fmla="*/ 138 w 278"/>
                <a:gd name="T45" fmla="*/ 277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8" h="278">
                  <a:moveTo>
                    <a:pt x="126" y="27"/>
                  </a:moveTo>
                  <a:lnTo>
                    <a:pt x="126" y="152"/>
                  </a:lnTo>
                  <a:lnTo>
                    <a:pt x="250" y="152"/>
                  </a:lnTo>
                  <a:lnTo>
                    <a:pt x="250" y="152"/>
                  </a:lnTo>
                  <a:cubicBezTo>
                    <a:pt x="244" y="208"/>
                    <a:pt x="197" y="252"/>
                    <a:pt x="138" y="252"/>
                  </a:cubicBezTo>
                  <a:lnTo>
                    <a:pt x="138" y="252"/>
                  </a:lnTo>
                  <a:cubicBezTo>
                    <a:pt x="76" y="252"/>
                    <a:pt x="25" y="202"/>
                    <a:pt x="25" y="139"/>
                  </a:cubicBezTo>
                  <a:lnTo>
                    <a:pt x="25" y="139"/>
                  </a:lnTo>
                  <a:cubicBezTo>
                    <a:pt x="25" y="80"/>
                    <a:pt x="70" y="33"/>
                    <a:pt x="126" y="27"/>
                  </a:cubicBezTo>
                  <a:close/>
                  <a:moveTo>
                    <a:pt x="250" y="126"/>
                  </a:moveTo>
                  <a:lnTo>
                    <a:pt x="150" y="126"/>
                  </a:lnTo>
                  <a:lnTo>
                    <a:pt x="150" y="27"/>
                  </a:lnTo>
                  <a:lnTo>
                    <a:pt x="150" y="27"/>
                  </a:lnTo>
                  <a:cubicBezTo>
                    <a:pt x="204" y="33"/>
                    <a:pt x="244" y="74"/>
                    <a:pt x="250" y="126"/>
                  </a:cubicBezTo>
                  <a:close/>
                  <a:moveTo>
                    <a:pt x="138" y="277"/>
                  </a:moveTo>
                  <a:lnTo>
                    <a:pt x="138" y="277"/>
                  </a:lnTo>
                  <a:cubicBezTo>
                    <a:pt x="215" y="277"/>
                    <a:pt x="277" y="216"/>
                    <a:pt x="277" y="139"/>
                  </a:cubicBezTo>
                  <a:lnTo>
                    <a:pt x="277" y="139"/>
                  </a:lnTo>
                  <a:cubicBezTo>
                    <a:pt x="277" y="63"/>
                    <a:pt x="215" y="0"/>
                    <a:pt x="138" y="0"/>
                  </a:cubicBezTo>
                  <a:lnTo>
                    <a:pt x="138" y="0"/>
                  </a:lnTo>
                  <a:cubicBezTo>
                    <a:pt x="62" y="0"/>
                    <a:pt x="0" y="63"/>
                    <a:pt x="0" y="139"/>
                  </a:cubicBezTo>
                  <a:lnTo>
                    <a:pt x="0" y="139"/>
                  </a:lnTo>
                  <a:cubicBezTo>
                    <a:pt x="0" y="216"/>
                    <a:pt x="62" y="277"/>
                    <a:pt x="138" y="277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7197" dirty="0">
                <a:latin typeface="Open Sans Regular" charset="0"/>
              </a:endParaRP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9674550" y="11335804"/>
            <a:ext cx="811671" cy="737884"/>
            <a:chOff x="2790820" y="6602587"/>
            <a:chExt cx="1068508" cy="971373"/>
          </a:xfrm>
          <a:solidFill>
            <a:schemeClr val="bg1"/>
          </a:solidFill>
        </p:grpSpPr>
        <p:sp>
          <p:nvSpPr>
            <p:cNvPr id="43" name="Freeform 42"/>
            <p:cNvSpPr>
              <a:spLocks noChangeArrowheads="1"/>
            </p:cNvSpPr>
            <p:nvPr/>
          </p:nvSpPr>
          <p:spPr bwMode="auto">
            <a:xfrm>
              <a:off x="2790820" y="7165984"/>
              <a:ext cx="1068508" cy="407976"/>
            </a:xfrm>
            <a:custGeom>
              <a:avLst/>
              <a:gdLst>
                <a:gd name="T0" fmla="*/ 18 w 484"/>
                <a:gd name="T1" fmla="*/ 165 h 184"/>
                <a:gd name="T2" fmla="*/ 18 w 484"/>
                <a:gd name="T3" fmla="*/ 165 h 184"/>
                <a:gd name="T4" fmla="*/ 116 w 484"/>
                <a:gd name="T5" fmla="*/ 22 h 184"/>
                <a:gd name="T6" fmla="*/ 116 w 484"/>
                <a:gd name="T7" fmla="*/ 22 h 184"/>
                <a:gd name="T8" fmla="*/ 242 w 484"/>
                <a:gd name="T9" fmla="*/ 92 h 184"/>
                <a:gd name="T10" fmla="*/ 242 w 484"/>
                <a:gd name="T11" fmla="*/ 92 h 184"/>
                <a:gd name="T12" fmla="*/ 369 w 484"/>
                <a:gd name="T13" fmla="*/ 22 h 184"/>
                <a:gd name="T14" fmla="*/ 369 w 484"/>
                <a:gd name="T15" fmla="*/ 22 h 184"/>
                <a:gd name="T16" fmla="*/ 465 w 484"/>
                <a:gd name="T17" fmla="*/ 165 h 184"/>
                <a:gd name="T18" fmla="*/ 18 w 484"/>
                <a:gd name="T19" fmla="*/ 165 h 184"/>
                <a:gd name="T20" fmla="*/ 369 w 484"/>
                <a:gd name="T21" fmla="*/ 2 h 184"/>
                <a:gd name="T22" fmla="*/ 369 w 484"/>
                <a:gd name="T23" fmla="*/ 2 h 184"/>
                <a:gd name="T24" fmla="*/ 357 w 484"/>
                <a:gd name="T25" fmla="*/ 7 h 184"/>
                <a:gd name="T26" fmla="*/ 357 w 484"/>
                <a:gd name="T27" fmla="*/ 7 h 184"/>
                <a:gd name="T28" fmla="*/ 242 w 484"/>
                <a:gd name="T29" fmla="*/ 74 h 184"/>
                <a:gd name="T30" fmla="*/ 242 w 484"/>
                <a:gd name="T31" fmla="*/ 74 h 184"/>
                <a:gd name="T32" fmla="*/ 126 w 484"/>
                <a:gd name="T33" fmla="*/ 7 h 184"/>
                <a:gd name="T34" fmla="*/ 126 w 484"/>
                <a:gd name="T35" fmla="*/ 7 h 184"/>
                <a:gd name="T36" fmla="*/ 114 w 484"/>
                <a:gd name="T37" fmla="*/ 2 h 184"/>
                <a:gd name="T38" fmla="*/ 114 w 484"/>
                <a:gd name="T39" fmla="*/ 2 h 184"/>
                <a:gd name="T40" fmla="*/ 0 w 484"/>
                <a:gd name="T41" fmla="*/ 173 h 184"/>
                <a:gd name="T42" fmla="*/ 0 w 484"/>
                <a:gd name="T43" fmla="*/ 173 h 184"/>
                <a:gd name="T44" fmla="*/ 2 w 484"/>
                <a:gd name="T45" fmla="*/ 179 h 184"/>
                <a:gd name="T46" fmla="*/ 2 w 484"/>
                <a:gd name="T47" fmla="*/ 179 h 184"/>
                <a:gd name="T48" fmla="*/ 9 w 484"/>
                <a:gd name="T49" fmla="*/ 183 h 184"/>
                <a:gd name="T50" fmla="*/ 475 w 484"/>
                <a:gd name="T51" fmla="*/ 183 h 184"/>
                <a:gd name="T52" fmla="*/ 475 w 484"/>
                <a:gd name="T53" fmla="*/ 183 h 184"/>
                <a:gd name="T54" fmla="*/ 481 w 484"/>
                <a:gd name="T55" fmla="*/ 179 h 184"/>
                <a:gd name="T56" fmla="*/ 481 w 484"/>
                <a:gd name="T57" fmla="*/ 179 h 184"/>
                <a:gd name="T58" fmla="*/ 483 w 484"/>
                <a:gd name="T59" fmla="*/ 173 h 184"/>
                <a:gd name="T60" fmla="*/ 483 w 484"/>
                <a:gd name="T61" fmla="*/ 173 h 184"/>
                <a:gd name="T62" fmla="*/ 369 w 484"/>
                <a:gd name="T63" fmla="*/ 2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84" h="184">
                  <a:moveTo>
                    <a:pt x="18" y="165"/>
                  </a:moveTo>
                  <a:lnTo>
                    <a:pt x="18" y="165"/>
                  </a:lnTo>
                  <a:cubicBezTo>
                    <a:pt x="20" y="139"/>
                    <a:pt x="34" y="63"/>
                    <a:pt x="116" y="22"/>
                  </a:cubicBezTo>
                  <a:lnTo>
                    <a:pt x="116" y="22"/>
                  </a:lnTo>
                  <a:cubicBezTo>
                    <a:pt x="143" y="65"/>
                    <a:pt x="191" y="92"/>
                    <a:pt x="242" y="92"/>
                  </a:cubicBezTo>
                  <a:lnTo>
                    <a:pt x="242" y="92"/>
                  </a:lnTo>
                  <a:cubicBezTo>
                    <a:pt x="293" y="92"/>
                    <a:pt x="342" y="65"/>
                    <a:pt x="369" y="22"/>
                  </a:cubicBezTo>
                  <a:lnTo>
                    <a:pt x="369" y="22"/>
                  </a:lnTo>
                  <a:cubicBezTo>
                    <a:pt x="449" y="63"/>
                    <a:pt x="463" y="139"/>
                    <a:pt x="465" y="165"/>
                  </a:cubicBezTo>
                  <a:lnTo>
                    <a:pt x="18" y="165"/>
                  </a:lnTo>
                  <a:close/>
                  <a:moveTo>
                    <a:pt x="369" y="2"/>
                  </a:moveTo>
                  <a:lnTo>
                    <a:pt x="369" y="2"/>
                  </a:lnTo>
                  <a:cubicBezTo>
                    <a:pt x="365" y="0"/>
                    <a:pt x="360" y="2"/>
                    <a:pt x="357" y="7"/>
                  </a:cubicBezTo>
                  <a:lnTo>
                    <a:pt x="357" y="7"/>
                  </a:lnTo>
                  <a:cubicBezTo>
                    <a:pt x="334" y="49"/>
                    <a:pt x="289" y="74"/>
                    <a:pt x="242" y="74"/>
                  </a:cubicBezTo>
                  <a:lnTo>
                    <a:pt x="242" y="74"/>
                  </a:lnTo>
                  <a:cubicBezTo>
                    <a:pt x="194" y="74"/>
                    <a:pt x="150" y="49"/>
                    <a:pt x="126" y="7"/>
                  </a:cubicBezTo>
                  <a:lnTo>
                    <a:pt x="126" y="7"/>
                  </a:lnTo>
                  <a:cubicBezTo>
                    <a:pt x="124" y="2"/>
                    <a:pt x="119" y="0"/>
                    <a:pt x="114" y="2"/>
                  </a:cubicBezTo>
                  <a:lnTo>
                    <a:pt x="114" y="2"/>
                  </a:lnTo>
                  <a:cubicBezTo>
                    <a:pt x="1" y="54"/>
                    <a:pt x="0" y="172"/>
                    <a:pt x="0" y="173"/>
                  </a:cubicBezTo>
                  <a:lnTo>
                    <a:pt x="0" y="173"/>
                  </a:lnTo>
                  <a:cubicBezTo>
                    <a:pt x="0" y="177"/>
                    <a:pt x="1" y="178"/>
                    <a:pt x="2" y="179"/>
                  </a:cubicBezTo>
                  <a:lnTo>
                    <a:pt x="2" y="179"/>
                  </a:lnTo>
                  <a:cubicBezTo>
                    <a:pt x="4" y="181"/>
                    <a:pt x="6" y="183"/>
                    <a:pt x="9" y="183"/>
                  </a:cubicBezTo>
                  <a:lnTo>
                    <a:pt x="475" y="183"/>
                  </a:lnTo>
                  <a:lnTo>
                    <a:pt x="475" y="183"/>
                  </a:lnTo>
                  <a:cubicBezTo>
                    <a:pt x="477" y="183"/>
                    <a:pt x="479" y="181"/>
                    <a:pt x="481" y="179"/>
                  </a:cubicBezTo>
                  <a:lnTo>
                    <a:pt x="481" y="179"/>
                  </a:lnTo>
                  <a:cubicBezTo>
                    <a:pt x="483" y="178"/>
                    <a:pt x="483" y="177"/>
                    <a:pt x="483" y="173"/>
                  </a:cubicBezTo>
                  <a:lnTo>
                    <a:pt x="483" y="173"/>
                  </a:lnTo>
                  <a:cubicBezTo>
                    <a:pt x="483" y="172"/>
                    <a:pt x="482" y="54"/>
                    <a:pt x="369" y="2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7197" dirty="0">
                <a:latin typeface="Open Sans Regular" charset="0"/>
              </a:endParaRPr>
            </a:p>
          </p:txBody>
        </p:sp>
        <p:sp>
          <p:nvSpPr>
            <p:cNvPr id="44" name="Freeform 43"/>
            <p:cNvSpPr>
              <a:spLocks noChangeArrowheads="1"/>
            </p:cNvSpPr>
            <p:nvPr/>
          </p:nvSpPr>
          <p:spPr bwMode="auto">
            <a:xfrm>
              <a:off x="3101657" y="6602587"/>
              <a:ext cx="446830" cy="660533"/>
            </a:xfrm>
            <a:custGeom>
              <a:avLst/>
              <a:gdLst>
                <a:gd name="T0" fmla="*/ 18 w 204"/>
                <a:gd name="T1" fmla="*/ 102 h 299"/>
                <a:gd name="T2" fmla="*/ 18 w 204"/>
                <a:gd name="T3" fmla="*/ 102 h 299"/>
                <a:gd name="T4" fmla="*/ 102 w 204"/>
                <a:gd name="T5" fmla="*/ 18 h 299"/>
                <a:gd name="T6" fmla="*/ 102 w 204"/>
                <a:gd name="T7" fmla="*/ 18 h 299"/>
                <a:gd name="T8" fmla="*/ 187 w 204"/>
                <a:gd name="T9" fmla="*/ 102 h 299"/>
                <a:gd name="T10" fmla="*/ 187 w 204"/>
                <a:gd name="T11" fmla="*/ 196 h 299"/>
                <a:gd name="T12" fmla="*/ 187 w 204"/>
                <a:gd name="T13" fmla="*/ 196 h 299"/>
                <a:gd name="T14" fmla="*/ 102 w 204"/>
                <a:gd name="T15" fmla="*/ 280 h 299"/>
                <a:gd name="T16" fmla="*/ 102 w 204"/>
                <a:gd name="T17" fmla="*/ 280 h 299"/>
                <a:gd name="T18" fmla="*/ 18 w 204"/>
                <a:gd name="T19" fmla="*/ 196 h 299"/>
                <a:gd name="T20" fmla="*/ 18 w 204"/>
                <a:gd name="T21" fmla="*/ 102 h 299"/>
                <a:gd name="T22" fmla="*/ 102 w 204"/>
                <a:gd name="T23" fmla="*/ 298 h 299"/>
                <a:gd name="T24" fmla="*/ 102 w 204"/>
                <a:gd name="T25" fmla="*/ 298 h 299"/>
                <a:gd name="T26" fmla="*/ 203 w 204"/>
                <a:gd name="T27" fmla="*/ 196 h 299"/>
                <a:gd name="T28" fmla="*/ 203 w 204"/>
                <a:gd name="T29" fmla="*/ 102 h 299"/>
                <a:gd name="T30" fmla="*/ 203 w 204"/>
                <a:gd name="T31" fmla="*/ 102 h 299"/>
                <a:gd name="T32" fmla="*/ 102 w 204"/>
                <a:gd name="T33" fmla="*/ 0 h 299"/>
                <a:gd name="T34" fmla="*/ 102 w 204"/>
                <a:gd name="T35" fmla="*/ 0 h 299"/>
                <a:gd name="T36" fmla="*/ 0 w 204"/>
                <a:gd name="T37" fmla="*/ 102 h 299"/>
                <a:gd name="T38" fmla="*/ 0 w 204"/>
                <a:gd name="T39" fmla="*/ 196 h 299"/>
                <a:gd name="T40" fmla="*/ 0 w 204"/>
                <a:gd name="T41" fmla="*/ 196 h 299"/>
                <a:gd name="T42" fmla="*/ 102 w 204"/>
                <a:gd name="T43" fmla="*/ 298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4" h="299">
                  <a:moveTo>
                    <a:pt x="18" y="102"/>
                  </a:moveTo>
                  <a:lnTo>
                    <a:pt x="18" y="102"/>
                  </a:lnTo>
                  <a:cubicBezTo>
                    <a:pt x="18" y="56"/>
                    <a:pt x="55" y="18"/>
                    <a:pt x="102" y="18"/>
                  </a:cubicBezTo>
                  <a:lnTo>
                    <a:pt x="102" y="18"/>
                  </a:lnTo>
                  <a:cubicBezTo>
                    <a:pt x="148" y="18"/>
                    <a:pt x="187" y="56"/>
                    <a:pt x="187" y="102"/>
                  </a:cubicBezTo>
                  <a:lnTo>
                    <a:pt x="187" y="196"/>
                  </a:lnTo>
                  <a:lnTo>
                    <a:pt x="187" y="196"/>
                  </a:lnTo>
                  <a:cubicBezTo>
                    <a:pt x="187" y="242"/>
                    <a:pt x="148" y="280"/>
                    <a:pt x="102" y="280"/>
                  </a:cubicBezTo>
                  <a:lnTo>
                    <a:pt x="102" y="280"/>
                  </a:lnTo>
                  <a:cubicBezTo>
                    <a:pt x="55" y="280"/>
                    <a:pt x="18" y="242"/>
                    <a:pt x="18" y="196"/>
                  </a:cubicBezTo>
                  <a:lnTo>
                    <a:pt x="18" y="102"/>
                  </a:lnTo>
                  <a:close/>
                  <a:moveTo>
                    <a:pt x="102" y="298"/>
                  </a:moveTo>
                  <a:lnTo>
                    <a:pt x="102" y="298"/>
                  </a:lnTo>
                  <a:cubicBezTo>
                    <a:pt x="158" y="298"/>
                    <a:pt x="203" y="251"/>
                    <a:pt x="203" y="196"/>
                  </a:cubicBezTo>
                  <a:lnTo>
                    <a:pt x="203" y="102"/>
                  </a:lnTo>
                  <a:lnTo>
                    <a:pt x="203" y="102"/>
                  </a:lnTo>
                  <a:cubicBezTo>
                    <a:pt x="203" y="46"/>
                    <a:pt x="158" y="0"/>
                    <a:pt x="102" y="0"/>
                  </a:cubicBezTo>
                  <a:lnTo>
                    <a:pt x="102" y="0"/>
                  </a:lnTo>
                  <a:cubicBezTo>
                    <a:pt x="46" y="0"/>
                    <a:pt x="0" y="46"/>
                    <a:pt x="0" y="102"/>
                  </a:cubicBezTo>
                  <a:lnTo>
                    <a:pt x="0" y="196"/>
                  </a:lnTo>
                  <a:lnTo>
                    <a:pt x="0" y="196"/>
                  </a:lnTo>
                  <a:cubicBezTo>
                    <a:pt x="0" y="251"/>
                    <a:pt x="46" y="298"/>
                    <a:pt x="102" y="298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7197" dirty="0">
                <a:latin typeface="Open Sans Regular" charset="0"/>
              </a:endParaRPr>
            </a:p>
          </p:txBody>
        </p:sp>
      </p:grpSp>
      <p:sp>
        <p:nvSpPr>
          <p:cNvPr id="45" name="Freeform 115"/>
          <p:cNvSpPr>
            <a:spLocks noChangeArrowheads="1"/>
          </p:cNvSpPr>
          <p:nvPr/>
        </p:nvSpPr>
        <p:spPr bwMode="auto">
          <a:xfrm>
            <a:off x="11024160" y="6286140"/>
            <a:ext cx="697003" cy="697003"/>
          </a:xfrm>
          <a:custGeom>
            <a:avLst/>
            <a:gdLst>
              <a:gd name="T0" fmla="*/ 430 w 490"/>
              <a:gd name="T1" fmla="*/ 233 h 489"/>
              <a:gd name="T2" fmla="*/ 472 w 490"/>
              <a:gd name="T3" fmla="*/ 303 h 489"/>
              <a:gd name="T4" fmla="*/ 430 w 490"/>
              <a:gd name="T5" fmla="*/ 372 h 489"/>
              <a:gd name="T6" fmla="*/ 413 w 490"/>
              <a:gd name="T7" fmla="*/ 379 h 489"/>
              <a:gd name="T8" fmla="*/ 372 w 490"/>
              <a:gd name="T9" fmla="*/ 382 h 489"/>
              <a:gd name="T10" fmla="*/ 392 w 490"/>
              <a:gd name="T11" fmla="*/ 223 h 489"/>
              <a:gd name="T12" fmla="*/ 413 w 490"/>
              <a:gd name="T13" fmla="*/ 226 h 489"/>
              <a:gd name="T14" fmla="*/ 255 w 490"/>
              <a:gd name="T15" fmla="*/ 471 h 489"/>
              <a:gd name="T16" fmla="*/ 274 w 490"/>
              <a:gd name="T17" fmla="*/ 458 h 489"/>
              <a:gd name="T18" fmla="*/ 292 w 490"/>
              <a:gd name="T19" fmla="*/ 471 h 489"/>
              <a:gd name="T20" fmla="*/ 117 w 490"/>
              <a:gd name="T21" fmla="*/ 223 h 489"/>
              <a:gd name="T22" fmla="*/ 97 w 490"/>
              <a:gd name="T23" fmla="*/ 382 h 489"/>
              <a:gd name="T24" fmla="*/ 77 w 490"/>
              <a:gd name="T25" fmla="*/ 379 h 489"/>
              <a:gd name="T26" fmla="*/ 77 w 490"/>
              <a:gd name="T27" fmla="*/ 226 h 489"/>
              <a:gd name="T28" fmla="*/ 117 w 490"/>
              <a:gd name="T29" fmla="*/ 223 h 489"/>
              <a:gd name="T30" fmla="*/ 59 w 490"/>
              <a:gd name="T31" fmla="*/ 371 h 489"/>
              <a:gd name="T32" fmla="*/ 18 w 490"/>
              <a:gd name="T33" fmla="*/ 303 h 489"/>
              <a:gd name="T34" fmla="*/ 59 w 490"/>
              <a:gd name="T35" fmla="*/ 371 h 489"/>
              <a:gd name="T36" fmla="*/ 424 w 490"/>
              <a:gd name="T37" fmla="*/ 212 h 489"/>
              <a:gd name="T38" fmla="*/ 401 w 490"/>
              <a:gd name="T39" fmla="*/ 155 h 489"/>
              <a:gd name="T40" fmla="*/ 245 w 490"/>
              <a:gd name="T41" fmla="*/ 0 h 489"/>
              <a:gd name="T42" fmla="*/ 88 w 490"/>
              <a:gd name="T43" fmla="*/ 155 h 489"/>
              <a:gd name="T44" fmla="*/ 88 w 490"/>
              <a:gd name="T45" fmla="*/ 207 h 489"/>
              <a:gd name="T46" fmla="*/ 65 w 490"/>
              <a:gd name="T47" fmla="*/ 212 h 489"/>
              <a:gd name="T48" fmla="*/ 0 w 490"/>
              <a:gd name="T49" fmla="*/ 303 h 489"/>
              <a:gd name="T50" fmla="*/ 65 w 490"/>
              <a:gd name="T51" fmla="*/ 394 h 489"/>
              <a:gd name="T52" fmla="*/ 126 w 490"/>
              <a:gd name="T53" fmla="*/ 399 h 489"/>
              <a:gd name="T54" fmla="*/ 135 w 490"/>
              <a:gd name="T55" fmla="*/ 390 h 489"/>
              <a:gd name="T56" fmla="*/ 135 w 490"/>
              <a:gd name="T57" fmla="*/ 214 h 489"/>
              <a:gd name="T58" fmla="*/ 106 w 490"/>
              <a:gd name="T59" fmla="*/ 206 h 489"/>
              <a:gd name="T60" fmla="*/ 106 w 490"/>
              <a:gd name="T61" fmla="*/ 155 h 489"/>
              <a:gd name="T62" fmla="*/ 245 w 490"/>
              <a:gd name="T63" fmla="*/ 17 h 489"/>
              <a:gd name="T64" fmla="*/ 383 w 490"/>
              <a:gd name="T65" fmla="*/ 206 h 489"/>
              <a:gd name="T66" fmla="*/ 363 w 490"/>
              <a:gd name="T67" fmla="*/ 206 h 489"/>
              <a:gd name="T68" fmla="*/ 354 w 490"/>
              <a:gd name="T69" fmla="*/ 390 h 489"/>
              <a:gd name="T70" fmla="*/ 363 w 490"/>
              <a:gd name="T71" fmla="*/ 399 h 489"/>
              <a:gd name="T72" fmla="*/ 383 w 490"/>
              <a:gd name="T73" fmla="*/ 449 h 489"/>
              <a:gd name="T74" fmla="*/ 383 w 490"/>
              <a:gd name="T75" fmla="*/ 450 h 489"/>
              <a:gd name="T76" fmla="*/ 377 w 490"/>
              <a:gd name="T77" fmla="*/ 464 h 489"/>
              <a:gd name="T78" fmla="*/ 363 w 490"/>
              <a:gd name="T79" fmla="*/ 471 h 489"/>
              <a:gd name="T80" fmla="*/ 310 w 490"/>
              <a:gd name="T81" fmla="*/ 471 h 489"/>
              <a:gd name="T82" fmla="*/ 301 w 490"/>
              <a:gd name="T83" fmla="*/ 452 h 489"/>
              <a:gd name="T84" fmla="*/ 274 w 490"/>
              <a:gd name="T85" fmla="*/ 440 h 489"/>
              <a:gd name="T86" fmla="*/ 236 w 490"/>
              <a:gd name="T87" fmla="*/ 480 h 489"/>
              <a:gd name="T88" fmla="*/ 303 w 490"/>
              <a:gd name="T89" fmla="*/ 488 h 489"/>
              <a:gd name="T90" fmla="*/ 363 w 490"/>
              <a:gd name="T91" fmla="*/ 488 h 489"/>
              <a:gd name="T92" fmla="*/ 390 w 490"/>
              <a:gd name="T93" fmla="*/ 476 h 489"/>
              <a:gd name="T94" fmla="*/ 401 w 490"/>
              <a:gd name="T95" fmla="*/ 450 h 489"/>
              <a:gd name="T96" fmla="*/ 401 w 490"/>
              <a:gd name="T97" fmla="*/ 398 h 489"/>
              <a:gd name="T98" fmla="*/ 424 w 490"/>
              <a:gd name="T99" fmla="*/ 394 h 489"/>
              <a:gd name="T100" fmla="*/ 489 w 490"/>
              <a:gd name="T101" fmla="*/ 303 h 489"/>
              <a:gd name="T102" fmla="*/ 424 w 490"/>
              <a:gd name="T103" fmla="*/ 212 h 4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490" h="489">
                <a:moveTo>
                  <a:pt x="430" y="372"/>
                </a:moveTo>
                <a:lnTo>
                  <a:pt x="430" y="233"/>
                </a:lnTo>
                <a:lnTo>
                  <a:pt x="430" y="233"/>
                </a:lnTo>
                <a:cubicBezTo>
                  <a:pt x="456" y="247"/>
                  <a:pt x="472" y="273"/>
                  <a:pt x="472" y="303"/>
                </a:cubicBezTo>
                <a:lnTo>
                  <a:pt x="472" y="303"/>
                </a:lnTo>
                <a:cubicBezTo>
                  <a:pt x="472" y="332"/>
                  <a:pt x="456" y="358"/>
                  <a:pt x="430" y="372"/>
                </a:cubicBezTo>
                <a:close/>
                <a:moveTo>
                  <a:pt x="413" y="379"/>
                </a:moveTo>
                <a:lnTo>
                  <a:pt x="413" y="379"/>
                </a:lnTo>
                <a:cubicBezTo>
                  <a:pt x="406" y="381"/>
                  <a:pt x="399" y="382"/>
                  <a:pt x="392" y="382"/>
                </a:cubicBezTo>
                <a:lnTo>
                  <a:pt x="372" y="382"/>
                </a:lnTo>
                <a:lnTo>
                  <a:pt x="372" y="223"/>
                </a:lnTo>
                <a:lnTo>
                  <a:pt x="392" y="223"/>
                </a:lnTo>
                <a:lnTo>
                  <a:pt x="392" y="223"/>
                </a:lnTo>
                <a:cubicBezTo>
                  <a:pt x="399" y="223"/>
                  <a:pt x="406" y="224"/>
                  <a:pt x="413" y="226"/>
                </a:cubicBezTo>
                <a:lnTo>
                  <a:pt x="413" y="379"/>
                </a:lnTo>
                <a:close/>
                <a:moveTo>
                  <a:pt x="255" y="471"/>
                </a:moveTo>
                <a:lnTo>
                  <a:pt x="255" y="471"/>
                </a:lnTo>
                <a:cubicBezTo>
                  <a:pt x="258" y="463"/>
                  <a:pt x="266" y="458"/>
                  <a:pt x="274" y="458"/>
                </a:cubicBezTo>
                <a:lnTo>
                  <a:pt x="274" y="458"/>
                </a:lnTo>
                <a:cubicBezTo>
                  <a:pt x="283" y="458"/>
                  <a:pt x="290" y="463"/>
                  <a:pt x="292" y="471"/>
                </a:cubicBezTo>
                <a:lnTo>
                  <a:pt x="255" y="471"/>
                </a:lnTo>
                <a:close/>
                <a:moveTo>
                  <a:pt x="117" y="223"/>
                </a:moveTo>
                <a:lnTo>
                  <a:pt x="117" y="382"/>
                </a:lnTo>
                <a:lnTo>
                  <a:pt x="97" y="382"/>
                </a:lnTo>
                <a:lnTo>
                  <a:pt x="97" y="382"/>
                </a:lnTo>
                <a:cubicBezTo>
                  <a:pt x="90" y="382"/>
                  <a:pt x="83" y="381"/>
                  <a:pt x="77" y="379"/>
                </a:cubicBezTo>
                <a:lnTo>
                  <a:pt x="77" y="226"/>
                </a:lnTo>
                <a:lnTo>
                  <a:pt x="77" y="226"/>
                </a:lnTo>
                <a:cubicBezTo>
                  <a:pt x="83" y="224"/>
                  <a:pt x="90" y="223"/>
                  <a:pt x="97" y="223"/>
                </a:cubicBezTo>
                <a:lnTo>
                  <a:pt x="117" y="223"/>
                </a:lnTo>
                <a:close/>
                <a:moveTo>
                  <a:pt x="59" y="371"/>
                </a:moveTo>
                <a:lnTo>
                  <a:pt x="59" y="371"/>
                </a:lnTo>
                <a:cubicBezTo>
                  <a:pt x="34" y="357"/>
                  <a:pt x="18" y="331"/>
                  <a:pt x="18" y="303"/>
                </a:cubicBezTo>
                <a:lnTo>
                  <a:pt x="18" y="303"/>
                </a:lnTo>
                <a:cubicBezTo>
                  <a:pt x="18" y="273"/>
                  <a:pt x="34" y="247"/>
                  <a:pt x="59" y="233"/>
                </a:cubicBezTo>
                <a:lnTo>
                  <a:pt x="59" y="371"/>
                </a:lnTo>
                <a:close/>
                <a:moveTo>
                  <a:pt x="424" y="212"/>
                </a:moveTo>
                <a:lnTo>
                  <a:pt x="424" y="212"/>
                </a:lnTo>
                <a:cubicBezTo>
                  <a:pt x="416" y="209"/>
                  <a:pt x="409" y="207"/>
                  <a:pt x="401" y="207"/>
                </a:cubicBezTo>
                <a:lnTo>
                  <a:pt x="401" y="155"/>
                </a:lnTo>
                <a:lnTo>
                  <a:pt x="401" y="155"/>
                </a:lnTo>
                <a:cubicBezTo>
                  <a:pt x="401" y="69"/>
                  <a:pt x="331" y="0"/>
                  <a:pt x="245" y="0"/>
                </a:cubicBezTo>
                <a:lnTo>
                  <a:pt x="245" y="0"/>
                </a:lnTo>
                <a:cubicBezTo>
                  <a:pt x="158" y="0"/>
                  <a:pt x="88" y="69"/>
                  <a:pt x="88" y="155"/>
                </a:cubicBezTo>
                <a:lnTo>
                  <a:pt x="88" y="207"/>
                </a:lnTo>
                <a:lnTo>
                  <a:pt x="88" y="207"/>
                </a:lnTo>
                <a:cubicBezTo>
                  <a:pt x="80" y="207"/>
                  <a:pt x="72" y="209"/>
                  <a:pt x="65" y="212"/>
                </a:cubicBezTo>
                <a:lnTo>
                  <a:pt x="65" y="212"/>
                </a:lnTo>
                <a:cubicBezTo>
                  <a:pt x="27" y="225"/>
                  <a:pt x="0" y="261"/>
                  <a:pt x="0" y="303"/>
                </a:cubicBezTo>
                <a:lnTo>
                  <a:pt x="0" y="303"/>
                </a:lnTo>
                <a:cubicBezTo>
                  <a:pt x="0" y="343"/>
                  <a:pt x="27" y="380"/>
                  <a:pt x="65" y="394"/>
                </a:cubicBezTo>
                <a:lnTo>
                  <a:pt x="65" y="394"/>
                </a:lnTo>
                <a:cubicBezTo>
                  <a:pt x="75" y="397"/>
                  <a:pt x="86" y="399"/>
                  <a:pt x="97" y="399"/>
                </a:cubicBezTo>
                <a:lnTo>
                  <a:pt x="126" y="399"/>
                </a:lnTo>
                <a:lnTo>
                  <a:pt x="126" y="399"/>
                </a:lnTo>
                <a:cubicBezTo>
                  <a:pt x="131" y="399"/>
                  <a:pt x="135" y="395"/>
                  <a:pt x="135" y="390"/>
                </a:cubicBezTo>
                <a:lnTo>
                  <a:pt x="135" y="214"/>
                </a:lnTo>
                <a:lnTo>
                  <a:pt x="135" y="214"/>
                </a:lnTo>
                <a:cubicBezTo>
                  <a:pt x="135" y="210"/>
                  <a:pt x="131" y="206"/>
                  <a:pt x="126" y="206"/>
                </a:cubicBezTo>
                <a:lnTo>
                  <a:pt x="106" y="206"/>
                </a:lnTo>
                <a:lnTo>
                  <a:pt x="106" y="155"/>
                </a:lnTo>
                <a:lnTo>
                  <a:pt x="106" y="155"/>
                </a:lnTo>
                <a:cubicBezTo>
                  <a:pt x="106" y="79"/>
                  <a:pt x="168" y="17"/>
                  <a:pt x="245" y="17"/>
                </a:cubicBezTo>
                <a:lnTo>
                  <a:pt x="245" y="17"/>
                </a:lnTo>
                <a:cubicBezTo>
                  <a:pt x="321" y="17"/>
                  <a:pt x="383" y="79"/>
                  <a:pt x="383" y="155"/>
                </a:cubicBezTo>
                <a:lnTo>
                  <a:pt x="383" y="206"/>
                </a:lnTo>
                <a:lnTo>
                  <a:pt x="363" y="206"/>
                </a:lnTo>
                <a:lnTo>
                  <a:pt x="363" y="206"/>
                </a:lnTo>
                <a:cubicBezTo>
                  <a:pt x="358" y="206"/>
                  <a:pt x="354" y="210"/>
                  <a:pt x="354" y="214"/>
                </a:cubicBezTo>
                <a:lnTo>
                  <a:pt x="354" y="390"/>
                </a:lnTo>
                <a:lnTo>
                  <a:pt x="354" y="390"/>
                </a:lnTo>
                <a:cubicBezTo>
                  <a:pt x="354" y="395"/>
                  <a:pt x="358" y="399"/>
                  <a:pt x="363" y="399"/>
                </a:cubicBezTo>
                <a:lnTo>
                  <a:pt x="383" y="399"/>
                </a:lnTo>
                <a:lnTo>
                  <a:pt x="383" y="449"/>
                </a:lnTo>
                <a:lnTo>
                  <a:pt x="383" y="450"/>
                </a:lnTo>
                <a:lnTo>
                  <a:pt x="383" y="450"/>
                </a:lnTo>
                <a:cubicBezTo>
                  <a:pt x="383" y="455"/>
                  <a:pt x="381" y="460"/>
                  <a:pt x="377" y="464"/>
                </a:cubicBezTo>
                <a:lnTo>
                  <a:pt x="377" y="464"/>
                </a:lnTo>
                <a:cubicBezTo>
                  <a:pt x="374" y="468"/>
                  <a:pt x="369" y="471"/>
                  <a:pt x="363" y="471"/>
                </a:cubicBezTo>
                <a:lnTo>
                  <a:pt x="363" y="471"/>
                </a:lnTo>
                <a:lnTo>
                  <a:pt x="310" y="471"/>
                </a:lnTo>
                <a:lnTo>
                  <a:pt x="310" y="471"/>
                </a:lnTo>
                <a:cubicBezTo>
                  <a:pt x="309" y="464"/>
                  <a:pt x="306" y="457"/>
                  <a:pt x="301" y="452"/>
                </a:cubicBezTo>
                <a:lnTo>
                  <a:pt x="301" y="452"/>
                </a:lnTo>
                <a:cubicBezTo>
                  <a:pt x="293" y="445"/>
                  <a:pt x="284" y="440"/>
                  <a:pt x="274" y="440"/>
                </a:cubicBezTo>
                <a:lnTo>
                  <a:pt x="274" y="440"/>
                </a:lnTo>
                <a:cubicBezTo>
                  <a:pt x="253" y="440"/>
                  <a:pt x="236" y="458"/>
                  <a:pt x="236" y="480"/>
                </a:cubicBezTo>
                <a:lnTo>
                  <a:pt x="236" y="480"/>
                </a:lnTo>
                <a:cubicBezTo>
                  <a:pt x="236" y="484"/>
                  <a:pt x="240" y="488"/>
                  <a:pt x="245" y="488"/>
                </a:cubicBezTo>
                <a:lnTo>
                  <a:pt x="303" y="488"/>
                </a:lnTo>
                <a:lnTo>
                  <a:pt x="363" y="488"/>
                </a:lnTo>
                <a:lnTo>
                  <a:pt x="363" y="488"/>
                </a:lnTo>
                <a:lnTo>
                  <a:pt x="363" y="488"/>
                </a:lnTo>
                <a:cubicBezTo>
                  <a:pt x="373" y="488"/>
                  <a:pt x="382" y="483"/>
                  <a:pt x="390" y="476"/>
                </a:cubicBezTo>
                <a:lnTo>
                  <a:pt x="390" y="476"/>
                </a:lnTo>
                <a:cubicBezTo>
                  <a:pt x="397" y="470"/>
                  <a:pt x="401" y="460"/>
                  <a:pt x="401" y="450"/>
                </a:cubicBezTo>
                <a:lnTo>
                  <a:pt x="401" y="449"/>
                </a:lnTo>
                <a:lnTo>
                  <a:pt x="401" y="398"/>
                </a:lnTo>
                <a:lnTo>
                  <a:pt x="401" y="398"/>
                </a:lnTo>
                <a:cubicBezTo>
                  <a:pt x="409" y="397"/>
                  <a:pt x="417" y="396"/>
                  <a:pt x="424" y="394"/>
                </a:cubicBezTo>
                <a:lnTo>
                  <a:pt x="424" y="394"/>
                </a:lnTo>
                <a:cubicBezTo>
                  <a:pt x="463" y="380"/>
                  <a:pt x="489" y="344"/>
                  <a:pt x="489" y="303"/>
                </a:cubicBezTo>
                <a:lnTo>
                  <a:pt x="489" y="303"/>
                </a:lnTo>
                <a:cubicBezTo>
                  <a:pt x="489" y="261"/>
                  <a:pt x="463" y="225"/>
                  <a:pt x="424" y="21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7197" dirty="0">
              <a:latin typeface="Open Sans Regular" charset="0"/>
            </a:endParaRPr>
          </a:p>
        </p:txBody>
      </p:sp>
      <p:grpSp>
        <p:nvGrpSpPr>
          <p:cNvPr id="51" name="Group 50"/>
          <p:cNvGrpSpPr/>
          <p:nvPr/>
        </p:nvGrpSpPr>
        <p:grpSpPr>
          <a:xfrm>
            <a:off x="10263019" y="8744837"/>
            <a:ext cx="811671" cy="737884"/>
            <a:chOff x="2790820" y="6602587"/>
            <a:chExt cx="1068508" cy="971373"/>
          </a:xfrm>
          <a:solidFill>
            <a:schemeClr val="bg1"/>
          </a:solidFill>
        </p:grpSpPr>
        <p:sp>
          <p:nvSpPr>
            <p:cNvPr id="52" name="Freeform 51"/>
            <p:cNvSpPr>
              <a:spLocks noChangeArrowheads="1"/>
            </p:cNvSpPr>
            <p:nvPr/>
          </p:nvSpPr>
          <p:spPr bwMode="auto">
            <a:xfrm>
              <a:off x="2790820" y="7165984"/>
              <a:ext cx="1068508" cy="407976"/>
            </a:xfrm>
            <a:custGeom>
              <a:avLst/>
              <a:gdLst>
                <a:gd name="T0" fmla="*/ 18 w 484"/>
                <a:gd name="T1" fmla="*/ 165 h 184"/>
                <a:gd name="T2" fmla="*/ 18 w 484"/>
                <a:gd name="T3" fmla="*/ 165 h 184"/>
                <a:gd name="T4" fmla="*/ 116 w 484"/>
                <a:gd name="T5" fmla="*/ 22 h 184"/>
                <a:gd name="T6" fmla="*/ 116 w 484"/>
                <a:gd name="T7" fmla="*/ 22 h 184"/>
                <a:gd name="T8" fmla="*/ 242 w 484"/>
                <a:gd name="T9" fmla="*/ 92 h 184"/>
                <a:gd name="T10" fmla="*/ 242 w 484"/>
                <a:gd name="T11" fmla="*/ 92 h 184"/>
                <a:gd name="T12" fmla="*/ 369 w 484"/>
                <a:gd name="T13" fmla="*/ 22 h 184"/>
                <a:gd name="T14" fmla="*/ 369 w 484"/>
                <a:gd name="T15" fmla="*/ 22 h 184"/>
                <a:gd name="T16" fmla="*/ 465 w 484"/>
                <a:gd name="T17" fmla="*/ 165 h 184"/>
                <a:gd name="T18" fmla="*/ 18 w 484"/>
                <a:gd name="T19" fmla="*/ 165 h 184"/>
                <a:gd name="T20" fmla="*/ 369 w 484"/>
                <a:gd name="T21" fmla="*/ 2 h 184"/>
                <a:gd name="T22" fmla="*/ 369 w 484"/>
                <a:gd name="T23" fmla="*/ 2 h 184"/>
                <a:gd name="T24" fmla="*/ 357 w 484"/>
                <a:gd name="T25" fmla="*/ 7 h 184"/>
                <a:gd name="T26" fmla="*/ 357 w 484"/>
                <a:gd name="T27" fmla="*/ 7 h 184"/>
                <a:gd name="T28" fmla="*/ 242 w 484"/>
                <a:gd name="T29" fmla="*/ 74 h 184"/>
                <a:gd name="T30" fmla="*/ 242 w 484"/>
                <a:gd name="T31" fmla="*/ 74 h 184"/>
                <a:gd name="T32" fmla="*/ 126 w 484"/>
                <a:gd name="T33" fmla="*/ 7 h 184"/>
                <a:gd name="T34" fmla="*/ 126 w 484"/>
                <a:gd name="T35" fmla="*/ 7 h 184"/>
                <a:gd name="T36" fmla="*/ 114 w 484"/>
                <a:gd name="T37" fmla="*/ 2 h 184"/>
                <a:gd name="T38" fmla="*/ 114 w 484"/>
                <a:gd name="T39" fmla="*/ 2 h 184"/>
                <a:gd name="T40" fmla="*/ 0 w 484"/>
                <a:gd name="T41" fmla="*/ 173 h 184"/>
                <a:gd name="T42" fmla="*/ 0 w 484"/>
                <a:gd name="T43" fmla="*/ 173 h 184"/>
                <a:gd name="T44" fmla="*/ 2 w 484"/>
                <a:gd name="T45" fmla="*/ 179 h 184"/>
                <a:gd name="T46" fmla="*/ 2 w 484"/>
                <a:gd name="T47" fmla="*/ 179 h 184"/>
                <a:gd name="T48" fmla="*/ 9 w 484"/>
                <a:gd name="T49" fmla="*/ 183 h 184"/>
                <a:gd name="T50" fmla="*/ 475 w 484"/>
                <a:gd name="T51" fmla="*/ 183 h 184"/>
                <a:gd name="T52" fmla="*/ 475 w 484"/>
                <a:gd name="T53" fmla="*/ 183 h 184"/>
                <a:gd name="T54" fmla="*/ 481 w 484"/>
                <a:gd name="T55" fmla="*/ 179 h 184"/>
                <a:gd name="T56" fmla="*/ 481 w 484"/>
                <a:gd name="T57" fmla="*/ 179 h 184"/>
                <a:gd name="T58" fmla="*/ 483 w 484"/>
                <a:gd name="T59" fmla="*/ 173 h 184"/>
                <a:gd name="T60" fmla="*/ 483 w 484"/>
                <a:gd name="T61" fmla="*/ 173 h 184"/>
                <a:gd name="T62" fmla="*/ 369 w 484"/>
                <a:gd name="T63" fmla="*/ 2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84" h="184">
                  <a:moveTo>
                    <a:pt x="18" y="165"/>
                  </a:moveTo>
                  <a:lnTo>
                    <a:pt x="18" y="165"/>
                  </a:lnTo>
                  <a:cubicBezTo>
                    <a:pt x="20" y="139"/>
                    <a:pt x="34" y="63"/>
                    <a:pt x="116" y="22"/>
                  </a:cubicBezTo>
                  <a:lnTo>
                    <a:pt x="116" y="22"/>
                  </a:lnTo>
                  <a:cubicBezTo>
                    <a:pt x="143" y="65"/>
                    <a:pt x="191" y="92"/>
                    <a:pt x="242" y="92"/>
                  </a:cubicBezTo>
                  <a:lnTo>
                    <a:pt x="242" y="92"/>
                  </a:lnTo>
                  <a:cubicBezTo>
                    <a:pt x="293" y="92"/>
                    <a:pt x="342" y="65"/>
                    <a:pt x="369" y="22"/>
                  </a:cubicBezTo>
                  <a:lnTo>
                    <a:pt x="369" y="22"/>
                  </a:lnTo>
                  <a:cubicBezTo>
                    <a:pt x="449" y="63"/>
                    <a:pt x="463" y="139"/>
                    <a:pt x="465" y="165"/>
                  </a:cubicBezTo>
                  <a:lnTo>
                    <a:pt x="18" y="165"/>
                  </a:lnTo>
                  <a:close/>
                  <a:moveTo>
                    <a:pt x="369" y="2"/>
                  </a:moveTo>
                  <a:lnTo>
                    <a:pt x="369" y="2"/>
                  </a:lnTo>
                  <a:cubicBezTo>
                    <a:pt x="365" y="0"/>
                    <a:pt x="360" y="2"/>
                    <a:pt x="357" y="7"/>
                  </a:cubicBezTo>
                  <a:lnTo>
                    <a:pt x="357" y="7"/>
                  </a:lnTo>
                  <a:cubicBezTo>
                    <a:pt x="334" y="49"/>
                    <a:pt x="289" y="74"/>
                    <a:pt x="242" y="74"/>
                  </a:cubicBezTo>
                  <a:lnTo>
                    <a:pt x="242" y="74"/>
                  </a:lnTo>
                  <a:cubicBezTo>
                    <a:pt x="194" y="74"/>
                    <a:pt x="150" y="49"/>
                    <a:pt x="126" y="7"/>
                  </a:cubicBezTo>
                  <a:lnTo>
                    <a:pt x="126" y="7"/>
                  </a:lnTo>
                  <a:cubicBezTo>
                    <a:pt x="124" y="2"/>
                    <a:pt x="119" y="0"/>
                    <a:pt x="114" y="2"/>
                  </a:cubicBezTo>
                  <a:lnTo>
                    <a:pt x="114" y="2"/>
                  </a:lnTo>
                  <a:cubicBezTo>
                    <a:pt x="1" y="54"/>
                    <a:pt x="0" y="172"/>
                    <a:pt x="0" y="173"/>
                  </a:cubicBezTo>
                  <a:lnTo>
                    <a:pt x="0" y="173"/>
                  </a:lnTo>
                  <a:cubicBezTo>
                    <a:pt x="0" y="177"/>
                    <a:pt x="1" y="178"/>
                    <a:pt x="2" y="179"/>
                  </a:cubicBezTo>
                  <a:lnTo>
                    <a:pt x="2" y="179"/>
                  </a:lnTo>
                  <a:cubicBezTo>
                    <a:pt x="4" y="181"/>
                    <a:pt x="6" y="183"/>
                    <a:pt x="9" y="183"/>
                  </a:cubicBezTo>
                  <a:lnTo>
                    <a:pt x="475" y="183"/>
                  </a:lnTo>
                  <a:lnTo>
                    <a:pt x="475" y="183"/>
                  </a:lnTo>
                  <a:cubicBezTo>
                    <a:pt x="477" y="183"/>
                    <a:pt x="479" y="181"/>
                    <a:pt x="481" y="179"/>
                  </a:cubicBezTo>
                  <a:lnTo>
                    <a:pt x="481" y="179"/>
                  </a:lnTo>
                  <a:cubicBezTo>
                    <a:pt x="483" y="178"/>
                    <a:pt x="483" y="177"/>
                    <a:pt x="483" y="173"/>
                  </a:cubicBezTo>
                  <a:lnTo>
                    <a:pt x="483" y="173"/>
                  </a:lnTo>
                  <a:cubicBezTo>
                    <a:pt x="483" y="172"/>
                    <a:pt x="482" y="54"/>
                    <a:pt x="369" y="2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7197" dirty="0">
                <a:latin typeface="Open Sans Regular" charset="0"/>
              </a:endParaRPr>
            </a:p>
          </p:txBody>
        </p:sp>
        <p:sp>
          <p:nvSpPr>
            <p:cNvPr id="53" name="Freeform 52"/>
            <p:cNvSpPr>
              <a:spLocks noChangeArrowheads="1"/>
            </p:cNvSpPr>
            <p:nvPr/>
          </p:nvSpPr>
          <p:spPr bwMode="auto">
            <a:xfrm>
              <a:off x="3101657" y="6602587"/>
              <a:ext cx="446830" cy="660533"/>
            </a:xfrm>
            <a:custGeom>
              <a:avLst/>
              <a:gdLst>
                <a:gd name="T0" fmla="*/ 18 w 204"/>
                <a:gd name="T1" fmla="*/ 102 h 299"/>
                <a:gd name="T2" fmla="*/ 18 w 204"/>
                <a:gd name="T3" fmla="*/ 102 h 299"/>
                <a:gd name="T4" fmla="*/ 102 w 204"/>
                <a:gd name="T5" fmla="*/ 18 h 299"/>
                <a:gd name="T6" fmla="*/ 102 w 204"/>
                <a:gd name="T7" fmla="*/ 18 h 299"/>
                <a:gd name="T8" fmla="*/ 187 w 204"/>
                <a:gd name="T9" fmla="*/ 102 h 299"/>
                <a:gd name="T10" fmla="*/ 187 w 204"/>
                <a:gd name="T11" fmla="*/ 196 h 299"/>
                <a:gd name="T12" fmla="*/ 187 w 204"/>
                <a:gd name="T13" fmla="*/ 196 h 299"/>
                <a:gd name="T14" fmla="*/ 102 w 204"/>
                <a:gd name="T15" fmla="*/ 280 h 299"/>
                <a:gd name="T16" fmla="*/ 102 w 204"/>
                <a:gd name="T17" fmla="*/ 280 h 299"/>
                <a:gd name="T18" fmla="*/ 18 w 204"/>
                <a:gd name="T19" fmla="*/ 196 h 299"/>
                <a:gd name="T20" fmla="*/ 18 w 204"/>
                <a:gd name="T21" fmla="*/ 102 h 299"/>
                <a:gd name="T22" fmla="*/ 102 w 204"/>
                <a:gd name="T23" fmla="*/ 298 h 299"/>
                <a:gd name="T24" fmla="*/ 102 w 204"/>
                <a:gd name="T25" fmla="*/ 298 h 299"/>
                <a:gd name="T26" fmla="*/ 203 w 204"/>
                <a:gd name="T27" fmla="*/ 196 h 299"/>
                <a:gd name="T28" fmla="*/ 203 w 204"/>
                <a:gd name="T29" fmla="*/ 102 h 299"/>
                <a:gd name="T30" fmla="*/ 203 w 204"/>
                <a:gd name="T31" fmla="*/ 102 h 299"/>
                <a:gd name="T32" fmla="*/ 102 w 204"/>
                <a:gd name="T33" fmla="*/ 0 h 299"/>
                <a:gd name="T34" fmla="*/ 102 w 204"/>
                <a:gd name="T35" fmla="*/ 0 h 299"/>
                <a:gd name="T36" fmla="*/ 0 w 204"/>
                <a:gd name="T37" fmla="*/ 102 h 299"/>
                <a:gd name="T38" fmla="*/ 0 w 204"/>
                <a:gd name="T39" fmla="*/ 196 h 299"/>
                <a:gd name="T40" fmla="*/ 0 w 204"/>
                <a:gd name="T41" fmla="*/ 196 h 299"/>
                <a:gd name="T42" fmla="*/ 102 w 204"/>
                <a:gd name="T43" fmla="*/ 298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4" h="299">
                  <a:moveTo>
                    <a:pt x="18" y="102"/>
                  </a:moveTo>
                  <a:lnTo>
                    <a:pt x="18" y="102"/>
                  </a:lnTo>
                  <a:cubicBezTo>
                    <a:pt x="18" y="56"/>
                    <a:pt x="55" y="18"/>
                    <a:pt x="102" y="18"/>
                  </a:cubicBezTo>
                  <a:lnTo>
                    <a:pt x="102" y="18"/>
                  </a:lnTo>
                  <a:cubicBezTo>
                    <a:pt x="148" y="18"/>
                    <a:pt x="187" y="56"/>
                    <a:pt x="187" y="102"/>
                  </a:cubicBezTo>
                  <a:lnTo>
                    <a:pt x="187" y="196"/>
                  </a:lnTo>
                  <a:lnTo>
                    <a:pt x="187" y="196"/>
                  </a:lnTo>
                  <a:cubicBezTo>
                    <a:pt x="187" y="242"/>
                    <a:pt x="148" y="280"/>
                    <a:pt x="102" y="280"/>
                  </a:cubicBezTo>
                  <a:lnTo>
                    <a:pt x="102" y="280"/>
                  </a:lnTo>
                  <a:cubicBezTo>
                    <a:pt x="55" y="280"/>
                    <a:pt x="18" y="242"/>
                    <a:pt x="18" y="196"/>
                  </a:cubicBezTo>
                  <a:lnTo>
                    <a:pt x="18" y="102"/>
                  </a:lnTo>
                  <a:close/>
                  <a:moveTo>
                    <a:pt x="102" y="298"/>
                  </a:moveTo>
                  <a:lnTo>
                    <a:pt x="102" y="298"/>
                  </a:lnTo>
                  <a:cubicBezTo>
                    <a:pt x="158" y="298"/>
                    <a:pt x="203" y="251"/>
                    <a:pt x="203" y="196"/>
                  </a:cubicBezTo>
                  <a:lnTo>
                    <a:pt x="203" y="102"/>
                  </a:lnTo>
                  <a:lnTo>
                    <a:pt x="203" y="102"/>
                  </a:lnTo>
                  <a:cubicBezTo>
                    <a:pt x="203" y="46"/>
                    <a:pt x="158" y="0"/>
                    <a:pt x="102" y="0"/>
                  </a:cubicBezTo>
                  <a:lnTo>
                    <a:pt x="102" y="0"/>
                  </a:lnTo>
                  <a:cubicBezTo>
                    <a:pt x="46" y="0"/>
                    <a:pt x="0" y="46"/>
                    <a:pt x="0" y="102"/>
                  </a:cubicBezTo>
                  <a:lnTo>
                    <a:pt x="0" y="196"/>
                  </a:lnTo>
                  <a:lnTo>
                    <a:pt x="0" y="196"/>
                  </a:lnTo>
                  <a:cubicBezTo>
                    <a:pt x="0" y="251"/>
                    <a:pt x="46" y="298"/>
                    <a:pt x="102" y="298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7197" dirty="0">
                <a:latin typeface="Open Sans Regular" charset="0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95A6450E-F4BD-4A4B-BE35-590AE2A76E5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35" t="24859" r="21491" b="24847"/>
          <a:stretch/>
        </p:blipFill>
        <p:spPr>
          <a:xfrm>
            <a:off x="953018" y="773499"/>
            <a:ext cx="15045907" cy="12169002"/>
          </a:xfrm>
          <a:prstGeom prst="rect">
            <a:avLst/>
          </a:prstGeom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6922A79C-F356-4801-9206-CA277BA6A26C}"/>
              </a:ext>
            </a:extLst>
          </p:cNvPr>
          <p:cNvSpPr txBox="1">
            <a:spLocks/>
          </p:cNvSpPr>
          <p:nvPr/>
        </p:nvSpPr>
        <p:spPr>
          <a:xfrm>
            <a:off x="17072660" y="5863335"/>
            <a:ext cx="4868228" cy="1989329"/>
          </a:xfrm>
          <a:prstGeom prst="rect">
            <a:avLst/>
          </a:prstGeom>
        </p:spPr>
        <p:txBody>
          <a:bodyPr vert="horz" wrap="square" lIns="217490" tIns="108745" rIns="217490" bIns="1087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Aft>
                <a:spcPts val="2400"/>
              </a:spcAft>
            </a:pPr>
            <a:r>
              <a:rPr lang="en-US" sz="11500" b="1" dirty="0">
                <a:latin typeface="Montserrat Light" charset="0"/>
                <a:ea typeface="Montserrat Light" charset="0"/>
                <a:cs typeface="Montserrat Light" charset="0"/>
              </a:rPr>
              <a:t>Design</a:t>
            </a:r>
          </a:p>
        </p:txBody>
      </p:sp>
    </p:spTree>
    <p:extLst>
      <p:ext uri="{BB962C8B-B14F-4D97-AF65-F5344CB8AC3E}">
        <p14:creationId xmlns:p14="http://schemas.microsoft.com/office/powerpoint/2010/main" val="957260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C47C23C7-824A-4EBD-97EE-9B2C6785BC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2286499"/>
              </p:ext>
            </p:extLst>
          </p:nvPr>
        </p:nvGraphicFramePr>
        <p:xfrm>
          <a:off x="-12330" y="0"/>
          <a:ext cx="24402311" cy="137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r:id="rId3" imgW="24380640" imgH="13714200" progId="">
                  <p:embed/>
                </p:oleObj>
              </mc:Choice>
              <mc:Fallback>
                <p:oleObj r:id="rId3" imgW="24380640" imgH="1371420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-12330" y="0"/>
                        <a:ext cx="24402311" cy="1371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ubtitle 2">
            <a:extLst>
              <a:ext uri="{FF2B5EF4-FFF2-40B4-BE49-F238E27FC236}">
                <a16:creationId xmlns:a16="http://schemas.microsoft.com/office/drawing/2014/main" id="{8F852C65-67E8-4024-962B-FAEA49ABFB94}"/>
              </a:ext>
            </a:extLst>
          </p:cNvPr>
          <p:cNvSpPr txBox="1">
            <a:spLocks/>
          </p:cNvSpPr>
          <p:nvPr/>
        </p:nvSpPr>
        <p:spPr>
          <a:xfrm>
            <a:off x="17550559" y="10275000"/>
            <a:ext cx="5783595" cy="1573831"/>
          </a:xfrm>
          <a:prstGeom prst="rect">
            <a:avLst/>
          </a:prstGeom>
        </p:spPr>
        <p:txBody>
          <a:bodyPr vert="horz" wrap="square" lIns="217490" tIns="108745" rIns="217490" bIns="1087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Aft>
                <a:spcPts val="2400"/>
              </a:spcAft>
            </a:pPr>
            <a:r>
              <a:rPr lang="en-US" sz="8800" b="1" dirty="0">
                <a:latin typeface="Montserrat Bold"/>
                <a:ea typeface="Montserrat Light" charset="0"/>
                <a:cs typeface="Montserrat Light" charset="0"/>
              </a:rPr>
              <a:t>Schematic</a:t>
            </a:r>
          </a:p>
        </p:txBody>
      </p:sp>
    </p:spTree>
    <p:extLst>
      <p:ext uri="{BB962C8B-B14F-4D97-AF65-F5344CB8AC3E}">
        <p14:creationId xmlns:p14="http://schemas.microsoft.com/office/powerpoint/2010/main" val="35079313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/>
          <p:cNvSpPr/>
          <p:nvPr/>
        </p:nvSpPr>
        <p:spPr>
          <a:xfrm>
            <a:off x="2020771" y="6198360"/>
            <a:ext cx="5850349" cy="1761892"/>
          </a:xfrm>
          <a:custGeom>
            <a:avLst/>
            <a:gdLst>
              <a:gd name="connsiteX0" fmla="*/ 0 w 4388294"/>
              <a:gd name="connsiteY0" fmla="*/ 0 h 1755317"/>
              <a:gd name="connsiteX1" fmla="*/ 3510636 w 4388294"/>
              <a:gd name="connsiteY1" fmla="*/ 0 h 1755317"/>
              <a:gd name="connsiteX2" fmla="*/ 4388294 w 4388294"/>
              <a:gd name="connsiteY2" fmla="*/ 877659 h 1755317"/>
              <a:gd name="connsiteX3" fmla="*/ 3510636 w 4388294"/>
              <a:gd name="connsiteY3" fmla="*/ 1755317 h 1755317"/>
              <a:gd name="connsiteX4" fmla="*/ 0 w 4388294"/>
              <a:gd name="connsiteY4" fmla="*/ 1755317 h 1755317"/>
              <a:gd name="connsiteX5" fmla="*/ 877659 w 4388294"/>
              <a:gd name="connsiteY5" fmla="*/ 877659 h 1755317"/>
              <a:gd name="connsiteX6" fmla="*/ 0 w 4388294"/>
              <a:gd name="connsiteY6" fmla="*/ 0 h 1755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8294" h="1755317">
                <a:moveTo>
                  <a:pt x="0" y="0"/>
                </a:moveTo>
                <a:lnTo>
                  <a:pt x="3510636" y="0"/>
                </a:lnTo>
                <a:lnTo>
                  <a:pt x="4388294" y="877659"/>
                </a:lnTo>
                <a:lnTo>
                  <a:pt x="3510636" y="1755317"/>
                </a:lnTo>
                <a:lnTo>
                  <a:pt x="0" y="1755317"/>
                </a:lnTo>
                <a:lnTo>
                  <a:pt x="877659" y="87765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37692" tIns="86678" rIns="964336" bIns="86678" numCol="1" spcCol="1270" anchor="ctr" anchorCtr="0">
            <a:noAutofit/>
          </a:bodyPr>
          <a:lstStyle/>
          <a:p>
            <a:pPr lvl="0" algn="ctr" defTabSz="2889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6500" kern="1200" dirty="0">
              <a:latin typeface="Open Sans Regular" charset="0"/>
            </a:endParaRPr>
          </a:p>
        </p:txBody>
      </p:sp>
      <p:sp>
        <p:nvSpPr>
          <p:cNvPr id="24" name="Freeform 23"/>
          <p:cNvSpPr/>
          <p:nvPr/>
        </p:nvSpPr>
        <p:spPr>
          <a:xfrm>
            <a:off x="6926884" y="6198360"/>
            <a:ext cx="5850349" cy="1761892"/>
          </a:xfrm>
          <a:custGeom>
            <a:avLst/>
            <a:gdLst>
              <a:gd name="connsiteX0" fmla="*/ 0 w 4388294"/>
              <a:gd name="connsiteY0" fmla="*/ 0 h 1755317"/>
              <a:gd name="connsiteX1" fmla="*/ 3510636 w 4388294"/>
              <a:gd name="connsiteY1" fmla="*/ 0 h 1755317"/>
              <a:gd name="connsiteX2" fmla="*/ 4388294 w 4388294"/>
              <a:gd name="connsiteY2" fmla="*/ 877659 h 1755317"/>
              <a:gd name="connsiteX3" fmla="*/ 3510636 w 4388294"/>
              <a:gd name="connsiteY3" fmla="*/ 1755317 h 1755317"/>
              <a:gd name="connsiteX4" fmla="*/ 0 w 4388294"/>
              <a:gd name="connsiteY4" fmla="*/ 1755317 h 1755317"/>
              <a:gd name="connsiteX5" fmla="*/ 877659 w 4388294"/>
              <a:gd name="connsiteY5" fmla="*/ 877659 h 1755317"/>
              <a:gd name="connsiteX6" fmla="*/ 0 w 4388294"/>
              <a:gd name="connsiteY6" fmla="*/ 0 h 1755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8294" h="1755317">
                <a:moveTo>
                  <a:pt x="0" y="0"/>
                </a:moveTo>
                <a:lnTo>
                  <a:pt x="3510636" y="0"/>
                </a:lnTo>
                <a:lnTo>
                  <a:pt x="4388294" y="877659"/>
                </a:lnTo>
                <a:lnTo>
                  <a:pt x="3510636" y="1755317"/>
                </a:lnTo>
                <a:lnTo>
                  <a:pt x="0" y="1755317"/>
                </a:lnTo>
                <a:lnTo>
                  <a:pt x="877659" y="87765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37692" tIns="86678" rIns="964336" bIns="86678" numCol="1" spcCol="1270" anchor="ctr" anchorCtr="0">
            <a:noAutofit/>
          </a:bodyPr>
          <a:lstStyle/>
          <a:p>
            <a:pPr lvl="0" algn="ctr" defTabSz="2889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6500" kern="1200" dirty="0">
              <a:latin typeface="Open Sans Regular" charset="0"/>
            </a:endParaRPr>
          </a:p>
        </p:txBody>
      </p:sp>
      <p:sp>
        <p:nvSpPr>
          <p:cNvPr id="26" name="Freeform 25"/>
          <p:cNvSpPr/>
          <p:nvPr/>
        </p:nvSpPr>
        <p:spPr>
          <a:xfrm>
            <a:off x="11832997" y="6198360"/>
            <a:ext cx="5850349" cy="1761892"/>
          </a:xfrm>
          <a:custGeom>
            <a:avLst/>
            <a:gdLst>
              <a:gd name="connsiteX0" fmla="*/ 0 w 4388294"/>
              <a:gd name="connsiteY0" fmla="*/ 0 h 1755317"/>
              <a:gd name="connsiteX1" fmla="*/ 3510636 w 4388294"/>
              <a:gd name="connsiteY1" fmla="*/ 0 h 1755317"/>
              <a:gd name="connsiteX2" fmla="*/ 4388294 w 4388294"/>
              <a:gd name="connsiteY2" fmla="*/ 877659 h 1755317"/>
              <a:gd name="connsiteX3" fmla="*/ 3510636 w 4388294"/>
              <a:gd name="connsiteY3" fmla="*/ 1755317 h 1755317"/>
              <a:gd name="connsiteX4" fmla="*/ 0 w 4388294"/>
              <a:gd name="connsiteY4" fmla="*/ 1755317 h 1755317"/>
              <a:gd name="connsiteX5" fmla="*/ 877659 w 4388294"/>
              <a:gd name="connsiteY5" fmla="*/ 877659 h 1755317"/>
              <a:gd name="connsiteX6" fmla="*/ 0 w 4388294"/>
              <a:gd name="connsiteY6" fmla="*/ 0 h 1755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8294" h="1755317">
                <a:moveTo>
                  <a:pt x="0" y="0"/>
                </a:moveTo>
                <a:lnTo>
                  <a:pt x="3510636" y="0"/>
                </a:lnTo>
                <a:lnTo>
                  <a:pt x="4388294" y="877659"/>
                </a:lnTo>
                <a:lnTo>
                  <a:pt x="3510636" y="1755317"/>
                </a:lnTo>
                <a:lnTo>
                  <a:pt x="0" y="1755317"/>
                </a:lnTo>
                <a:lnTo>
                  <a:pt x="877659" y="87765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37692" tIns="86678" rIns="964336" bIns="86678" numCol="1" spcCol="1270" anchor="ctr" anchorCtr="0">
            <a:noAutofit/>
          </a:bodyPr>
          <a:lstStyle/>
          <a:p>
            <a:pPr lvl="0" algn="ctr" defTabSz="2889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6500" kern="1200" dirty="0">
              <a:latin typeface="Open Sans Regular" charset="0"/>
            </a:endParaRPr>
          </a:p>
        </p:txBody>
      </p:sp>
      <p:sp>
        <p:nvSpPr>
          <p:cNvPr id="27" name="Freeform 26"/>
          <p:cNvSpPr/>
          <p:nvPr/>
        </p:nvSpPr>
        <p:spPr>
          <a:xfrm>
            <a:off x="16739110" y="6198360"/>
            <a:ext cx="5850349" cy="1761892"/>
          </a:xfrm>
          <a:custGeom>
            <a:avLst/>
            <a:gdLst>
              <a:gd name="connsiteX0" fmla="*/ 0 w 4388294"/>
              <a:gd name="connsiteY0" fmla="*/ 0 h 1755317"/>
              <a:gd name="connsiteX1" fmla="*/ 3510636 w 4388294"/>
              <a:gd name="connsiteY1" fmla="*/ 0 h 1755317"/>
              <a:gd name="connsiteX2" fmla="*/ 4388294 w 4388294"/>
              <a:gd name="connsiteY2" fmla="*/ 877659 h 1755317"/>
              <a:gd name="connsiteX3" fmla="*/ 3510636 w 4388294"/>
              <a:gd name="connsiteY3" fmla="*/ 1755317 h 1755317"/>
              <a:gd name="connsiteX4" fmla="*/ 0 w 4388294"/>
              <a:gd name="connsiteY4" fmla="*/ 1755317 h 1755317"/>
              <a:gd name="connsiteX5" fmla="*/ 877659 w 4388294"/>
              <a:gd name="connsiteY5" fmla="*/ 877659 h 1755317"/>
              <a:gd name="connsiteX6" fmla="*/ 0 w 4388294"/>
              <a:gd name="connsiteY6" fmla="*/ 0 h 1755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8294" h="1755317">
                <a:moveTo>
                  <a:pt x="0" y="0"/>
                </a:moveTo>
                <a:lnTo>
                  <a:pt x="3510636" y="0"/>
                </a:lnTo>
                <a:lnTo>
                  <a:pt x="4388294" y="877659"/>
                </a:lnTo>
                <a:lnTo>
                  <a:pt x="3510636" y="1755317"/>
                </a:lnTo>
                <a:lnTo>
                  <a:pt x="0" y="1755317"/>
                </a:lnTo>
                <a:lnTo>
                  <a:pt x="877659" y="87765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37692" tIns="86678" rIns="964336" bIns="86678" numCol="1" spcCol="1270" anchor="ctr" anchorCtr="0">
            <a:noAutofit/>
          </a:bodyPr>
          <a:lstStyle/>
          <a:p>
            <a:pPr lvl="0" algn="ctr" defTabSz="2889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6500" kern="1200" dirty="0">
              <a:latin typeface="Open Sans Regular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8073981" y="6725363"/>
            <a:ext cx="3180615" cy="707886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Montserrat Bold" charset="0"/>
                <a:ea typeface="Montserrat Bold" charset="0"/>
                <a:cs typeface="Montserrat Bold" charset="0"/>
              </a:rPr>
              <a:t>User Interface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37344" y="6725363"/>
            <a:ext cx="2062103" cy="707886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Montserrat Bold" charset="0"/>
                <a:ea typeface="Montserrat Bold" charset="0"/>
                <a:cs typeface="Montserrat Bold" charset="0"/>
              </a:rPr>
              <a:t>Playback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99050" y="6725363"/>
            <a:ext cx="2691827" cy="707886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Montserrat Bold" charset="0"/>
                <a:ea typeface="Montserrat Bold" charset="0"/>
                <a:cs typeface="Montserrat Bold" charset="0"/>
              </a:rPr>
              <a:t>Modulation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95175" y="6725363"/>
            <a:ext cx="1969770" cy="707886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Montserrat Bold" charset="0"/>
                <a:ea typeface="Montserrat Bold" charset="0"/>
                <a:cs typeface="Montserrat Bold" charset="0"/>
              </a:rPr>
              <a:t>Layering</a:t>
            </a:r>
          </a:p>
        </p:txBody>
      </p:sp>
      <p:cxnSp>
        <p:nvCxnSpPr>
          <p:cNvPr id="32" name="Straight Connector 31"/>
          <p:cNvCxnSpPr/>
          <p:nvPr/>
        </p:nvCxnSpPr>
        <p:spPr>
          <a:xfrm flipV="1">
            <a:off x="14541191" y="4692211"/>
            <a:ext cx="0" cy="1113266"/>
          </a:xfrm>
          <a:prstGeom prst="line">
            <a:avLst/>
          </a:prstGeom>
          <a:ln w="28575">
            <a:solidFill>
              <a:schemeClr val="accent3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Subtitle 2"/>
          <p:cNvSpPr txBox="1">
            <a:spLocks/>
          </p:cNvSpPr>
          <p:nvPr/>
        </p:nvSpPr>
        <p:spPr>
          <a:xfrm>
            <a:off x="11254529" y="3060091"/>
            <a:ext cx="6573324" cy="1292985"/>
          </a:xfrm>
          <a:prstGeom prst="rect">
            <a:avLst/>
          </a:prstGeom>
        </p:spPr>
        <p:txBody>
          <a:bodyPr vert="horz" wrap="square" lIns="217490" tIns="108745" rIns="217490" bIns="1087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300"/>
              </a:lnSpc>
            </a:pPr>
            <a:r>
              <a:rPr lang="en-US" sz="3200" dirty="0">
                <a:solidFill>
                  <a:schemeClr val="tx1"/>
                </a:solidFill>
                <a:latin typeface="Montserrat Light" charset="0"/>
                <a:ea typeface="Montserrat Light" charset="0"/>
                <a:cs typeface="Montserrat Light" charset="0"/>
              </a:rPr>
              <a:t>Most complex logic, converting key presses into numbers in an array</a:t>
            </a:r>
          </a:p>
        </p:txBody>
      </p:sp>
      <p:cxnSp>
        <p:nvCxnSpPr>
          <p:cNvPr id="35" name="Straight Connector 34"/>
          <p:cNvCxnSpPr/>
          <p:nvPr/>
        </p:nvCxnSpPr>
        <p:spPr>
          <a:xfrm>
            <a:off x="19657315" y="8471147"/>
            <a:ext cx="0" cy="1110633"/>
          </a:xfrm>
          <a:prstGeom prst="line">
            <a:avLst/>
          </a:prstGeom>
          <a:ln w="28575">
            <a:solidFill>
              <a:schemeClr val="accent4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Subtitle 2"/>
          <p:cNvSpPr txBox="1">
            <a:spLocks/>
          </p:cNvSpPr>
          <p:nvPr/>
        </p:nvSpPr>
        <p:spPr>
          <a:xfrm>
            <a:off x="16705928" y="9718288"/>
            <a:ext cx="5902773" cy="1292985"/>
          </a:xfrm>
          <a:prstGeom prst="rect">
            <a:avLst/>
          </a:prstGeom>
        </p:spPr>
        <p:txBody>
          <a:bodyPr vert="horz" wrap="square" lIns="217490" tIns="108745" rIns="217490" bIns="1087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300"/>
              </a:lnSpc>
            </a:pPr>
            <a:r>
              <a:rPr lang="en-US" sz="3200" dirty="0">
                <a:solidFill>
                  <a:schemeClr val="tx1"/>
                </a:solidFill>
                <a:latin typeface="Montserrat Light" charset="0"/>
                <a:ea typeface="Montserrat Light" charset="0"/>
                <a:cs typeface="Montserrat Light" charset="0"/>
              </a:rPr>
              <a:t>Tying everything together with a visual interface for the consumer </a:t>
            </a:r>
          </a:p>
        </p:txBody>
      </p:sp>
      <p:cxnSp>
        <p:nvCxnSpPr>
          <p:cNvPr id="39" name="Straight Connector 38"/>
          <p:cNvCxnSpPr/>
          <p:nvPr/>
        </p:nvCxnSpPr>
        <p:spPr>
          <a:xfrm flipV="1">
            <a:off x="4839630" y="4692211"/>
            <a:ext cx="0" cy="1113266"/>
          </a:xfrm>
          <a:prstGeom prst="line">
            <a:avLst/>
          </a:prstGeom>
          <a:ln w="28575"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Subtitle 2"/>
          <p:cNvSpPr txBox="1">
            <a:spLocks/>
          </p:cNvSpPr>
          <p:nvPr/>
        </p:nvSpPr>
        <p:spPr>
          <a:xfrm>
            <a:off x="1888243" y="3060091"/>
            <a:ext cx="5902773" cy="1292985"/>
          </a:xfrm>
          <a:prstGeom prst="rect">
            <a:avLst/>
          </a:prstGeom>
        </p:spPr>
        <p:txBody>
          <a:bodyPr vert="horz" wrap="square" lIns="217490" tIns="108745" rIns="217490" bIns="1087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300"/>
              </a:lnSpc>
            </a:pPr>
            <a:r>
              <a:rPr lang="en-US" sz="3200" dirty="0">
                <a:solidFill>
                  <a:schemeClr val="tx1"/>
                </a:solidFill>
                <a:latin typeface="Montserrat Light" charset="0"/>
                <a:ea typeface="Montserrat Light" charset="0"/>
                <a:cs typeface="Montserrat Light" charset="0"/>
              </a:rPr>
              <a:t>Getting notes to play when we hit keys on a keyboard</a:t>
            </a:r>
          </a:p>
        </p:txBody>
      </p:sp>
      <p:cxnSp>
        <p:nvCxnSpPr>
          <p:cNvPr id="42" name="Straight Connector 41"/>
          <p:cNvCxnSpPr/>
          <p:nvPr/>
        </p:nvCxnSpPr>
        <p:spPr>
          <a:xfrm>
            <a:off x="10044964" y="8471147"/>
            <a:ext cx="0" cy="1110633"/>
          </a:xfrm>
          <a:prstGeom prst="line">
            <a:avLst/>
          </a:prstGeom>
          <a:ln w="28575">
            <a:solidFill>
              <a:schemeClr val="accent2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Subtitle 2"/>
          <p:cNvSpPr txBox="1">
            <a:spLocks/>
          </p:cNvSpPr>
          <p:nvPr/>
        </p:nvSpPr>
        <p:spPr>
          <a:xfrm>
            <a:off x="6867166" y="9709174"/>
            <a:ext cx="6355596" cy="1844418"/>
          </a:xfrm>
          <a:prstGeom prst="rect">
            <a:avLst/>
          </a:prstGeom>
        </p:spPr>
        <p:txBody>
          <a:bodyPr vert="horz" wrap="square" lIns="217490" tIns="108745" rIns="217490" bIns="1087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300"/>
              </a:lnSpc>
            </a:pPr>
            <a:r>
              <a:rPr lang="en-US" sz="3200" dirty="0">
                <a:solidFill>
                  <a:schemeClr val="tx1"/>
                </a:solidFill>
                <a:latin typeface="Montserrat Light" charset="0"/>
                <a:ea typeface="Montserrat Light" charset="0"/>
                <a:cs typeface="Montserrat Light" charset="0"/>
              </a:rPr>
              <a:t>Adding more complex sounds via .wav files, starting to use SDRAM instead of E100 memory </a:t>
            </a:r>
          </a:p>
        </p:txBody>
      </p:sp>
    </p:spTree>
    <p:extLst>
      <p:ext uri="{BB962C8B-B14F-4D97-AF65-F5344CB8AC3E}">
        <p14:creationId xmlns:p14="http://schemas.microsoft.com/office/powerpoint/2010/main" val="6937594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3736EC8-27A4-4F28-BB85-B05D9972FE35}"/>
              </a:ext>
            </a:extLst>
          </p:cNvPr>
          <p:cNvSpPr txBox="1">
            <a:spLocks/>
          </p:cNvSpPr>
          <p:nvPr/>
        </p:nvSpPr>
        <p:spPr>
          <a:xfrm>
            <a:off x="6405230" y="986263"/>
            <a:ext cx="17226116" cy="1573831"/>
          </a:xfrm>
          <a:prstGeom prst="rect">
            <a:avLst/>
          </a:prstGeom>
        </p:spPr>
        <p:txBody>
          <a:bodyPr vert="horz" wrap="square" lIns="217490" tIns="108745" rIns="217490" bIns="1087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Aft>
                <a:spcPts val="2400"/>
              </a:spcAft>
            </a:pPr>
            <a:r>
              <a:rPr lang="en-US" sz="8800" b="1" dirty="0">
                <a:latin typeface="Montserrat Bold"/>
                <a:ea typeface="Montserrat Light" charset="0"/>
                <a:cs typeface="Montserrat Light" charset="0"/>
              </a:rPr>
              <a:t>Prototype vs Production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DEEC0EC-D6E1-4756-988C-773863452C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6209824"/>
              </p:ext>
            </p:extLst>
          </p:nvPr>
        </p:nvGraphicFramePr>
        <p:xfrm>
          <a:off x="2986655" y="3080163"/>
          <a:ext cx="18404340" cy="9649574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6134780">
                  <a:extLst>
                    <a:ext uri="{9D8B030D-6E8A-4147-A177-3AD203B41FA5}">
                      <a16:colId xmlns:a16="http://schemas.microsoft.com/office/drawing/2014/main" val="2340322914"/>
                    </a:ext>
                  </a:extLst>
                </a:gridCol>
                <a:gridCol w="6134780">
                  <a:extLst>
                    <a:ext uri="{9D8B030D-6E8A-4147-A177-3AD203B41FA5}">
                      <a16:colId xmlns:a16="http://schemas.microsoft.com/office/drawing/2014/main" val="2009758648"/>
                    </a:ext>
                  </a:extLst>
                </a:gridCol>
                <a:gridCol w="6134780">
                  <a:extLst>
                    <a:ext uri="{9D8B030D-6E8A-4147-A177-3AD203B41FA5}">
                      <a16:colId xmlns:a16="http://schemas.microsoft.com/office/drawing/2014/main" val="1561483297"/>
                    </a:ext>
                  </a:extLst>
                </a:gridCol>
              </a:tblGrid>
              <a:tr h="1085266">
                <a:tc>
                  <a:txBody>
                    <a:bodyPr/>
                    <a:lstStyle/>
                    <a:p>
                      <a:endParaRPr lang="en-US" sz="4400" dirty="0">
                        <a:latin typeface="Montserrat Bold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/>
                        <a:t>Prototype</a:t>
                      </a:r>
                      <a:endParaRPr lang="en-US" sz="4400" b="1" dirty="0">
                        <a:latin typeface="Montserrat Bold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/>
                        <a:t>Production</a:t>
                      </a:r>
                      <a:endParaRPr lang="en-US" sz="4400" b="1" dirty="0">
                        <a:latin typeface="Montserrat Bold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584377"/>
                  </a:ext>
                </a:extLst>
              </a:tr>
              <a:tr h="1085266">
                <a:tc>
                  <a:txBody>
                    <a:bodyPr/>
                    <a:lstStyle/>
                    <a:p>
                      <a:r>
                        <a:rPr lang="en-US" sz="4400" dirty="0"/>
                        <a:t>Processor</a:t>
                      </a:r>
                      <a:endParaRPr lang="en-US" sz="4400" b="1" dirty="0">
                        <a:latin typeface="Montserrat Bold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/>
                        <a:t>Altera DE2-115</a:t>
                      </a:r>
                      <a:endParaRPr lang="en-US" sz="4400" dirty="0">
                        <a:latin typeface="Montserrat Bold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/>
                        <a:t>Raspberry Pi Zero</a:t>
                      </a:r>
                      <a:endParaRPr lang="en-US" sz="4400" dirty="0">
                        <a:latin typeface="Montserrat Bold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5924128"/>
                  </a:ext>
                </a:extLst>
              </a:tr>
              <a:tr h="2015494">
                <a:tc>
                  <a:txBody>
                    <a:bodyPr/>
                    <a:lstStyle/>
                    <a:p>
                      <a:r>
                        <a:rPr lang="en-US" sz="4400" dirty="0"/>
                        <a:t>Display</a:t>
                      </a:r>
                      <a:endParaRPr lang="en-US" sz="4400" b="1" dirty="0">
                        <a:latin typeface="Montserrat Bold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/>
                        <a:t>640 x 480 VGA Monitor</a:t>
                      </a:r>
                      <a:endParaRPr lang="en-US" sz="4400" dirty="0">
                        <a:latin typeface="Montserrat Bold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Elecrow</a:t>
                      </a:r>
                      <a:r>
                        <a:rPr lang="en-US" sz="4400" dirty="0"/>
                        <a:t> HDMI 800x480 LCD Touchscreen</a:t>
                      </a:r>
                      <a:endParaRPr lang="en-US" sz="4400" dirty="0">
                        <a:latin typeface="Montserrat Bold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9710525"/>
                  </a:ext>
                </a:extLst>
              </a:tr>
              <a:tr h="1085266">
                <a:tc>
                  <a:txBody>
                    <a:bodyPr/>
                    <a:lstStyle/>
                    <a:p>
                      <a:r>
                        <a:rPr lang="en-US" sz="4400" dirty="0"/>
                        <a:t>Speaker</a:t>
                      </a:r>
                      <a:endParaRPr lang="en-US" sz="4400" b="1" dirty="0">
                        <a:latin typeface="Montserrat Bold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/>
                        <a:t>Dell Mono Desktop Speaker</a:t>
                      </a:r>
                      <a:endParaRPr lang="en-US" sz="4400" dirty="0">
                        <a:latin typeface="Montserrat Bold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/>
                        <a:t>LQY Stereo Speakers </a:t>
                      </a:r>
                      <a:endParaRPr lang="en-US" sz="4400" dirty="0">
                        <a:latin typeface="Montserrat Bold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4120008"/>
                  </a:ext>
                </a:extLst>
              </a:tr>
              <a:tr h="2015494">
                <a:tc>
                  <a:txBody>
                    <a:bodyPr/>
                    <a:lstStyle/>
                    <a:p>
                      <a:r>
                        <a:rPr lang="en-US" sz="4400" dirty="0"/>
                        <a:t>Keyboard</a:t>
                      </a:r>
                      <a:endParaRPr lang="en-US" sz="4400" b="1" dirty="0">
                        <a:latin typeface="Montserrat Bold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/>
                        <a:t>Dell Keyboard</a:t>
                      </a:r>
                      <a:endParaRPr lang="en-US" sz="4400" dirty="0">
                        <a:latin typeface="Montserrat Bold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/>
                        <a:t>Verbatim Slimline Keyboard</a:t>
                      </a:r>
                      <a:endParaRPr lang="en-US" sz="4400" dirty="0">
                        <a:latin typeface="Montserrat Bold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8785424"/>
                  </a:ext>
                </a:extLst>
              </a:tr>
              <a:tr h="2015494">
                <a:tc>
                  <a:txBody>
                    <a:bodyPr/>
                    <a:lstStyle/>
                    <a:p>
                      <a:r>
                        <a:rPr lang="en-US" sz="4400" dirty="0"/>
                        <a:t>Price</a:t>
                      </a:r>
                      <a:endParaRPr lang="en-US" sz="4400" b="1" dirty="0">
                        <a:latin typeface="Montserrat Bold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4400" dirty="0">
                        <a:latin typeface="Montserrat Bold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400" dirty="0"/>
                        <a:t>$54.68 </a:t>
                      </a:r>
                      <a:endParaRPr lang="en-US" sz="4400" dirty="0">
                        <a:latin typeface="Montserrat Bold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40078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7064339"/>
      </p:ext>
    </p:extLst>
  </p:cSld>
  <p:clrMapOvr>
    <a:masterClrMapping/>
  </p:clrMapOvr>
  <p:transition advClick="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2C93F80-4AD6-40D6-96F6-DB3EB53C61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53482910"/>
              </p:ext>
            </p:extLst>
          </p:nvPr>
        </p:nvGraphicFramePr>
        <p:xfrm>
          <a:off x="1892251" y="1303627"/>
          <a:ext cx="20593148" cy="111087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67059778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9B7A445E-E15D-48F0-A2A1-2B1EE432AFA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05426891"/>
              </p:ext>
            </p:extLst>
          </p:nvPr>
        </p:nvGraphicFramePr>
        <p:xfrm>
          <a:off x="1621466" y="1190445"/>
          <a:ext cx="21134717" cy="113351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990281504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A58D265A-0195-4552-9FB3-D6E5B048E5F5}"/>
              </a:ext>
            </a:extLst>
          </p:cNvPr>
          <p:cNvSpPr txBox="1">
            <a:spLocks/>
          </p:cNvSpPr>
          <p:nvPr/>
        </p:nvSpPr>
        <p:spPr>
          <a:xfrm>
            <a:off x="3323086" y="4716867"/>
            <a:ext cx="17731478" cy="4282265"/>
          </a:xfrm>
          <a:prstGeom prst="rect">
            <a:avLst/>
          </a:prstGeom>
        </p:spPr>
        <p:txBody>
          <a:bodyPr vert="horz" wrap="square" lIns="217490" tIns="108745" rIns="217490" bIns="1087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Aft>
                <a:spcPts val="2400"/>
              </a:spcAft>
            </a:pPr>
            <a:r>
              <a:rPr lang="en-US" sz="8800" dirty="0">
                <a:latin typeface="Montserrat Light" charset="0"/>
                <a:ea typeface="Montserrat Light" charset="0"/>
                <a:cs typeface="Montserrat Light" charset="0"/>
              </a:rPr>
              <a:t>We didn’t get to implement </a:t>
            </a:r>
            <a:r>
              <a:rPr lang="en-US" sz="8800" b="1" dirty="0">
                <a:latin typeface="Montserrat Light" charset="0"/>
                <a:ea typeface="Montserrat Light" charset="0"/>
                <a:cs typeface="Montserrat Light" charset="0"/>
              </a:rPr>
              <a:t>wave modulation, </a:t>
            </a:r>
            <a:r>
              <a:rPr lang="en-US" sz="8800" dirty="0">
                <a:latin typeface="Montserrat Light" charset="0"/>
                <a:ea typeface="Montserrat Light" charset="0"/>
                <a:cs typeface="Montserrat Light" charset="0"/>
              </a:rPr>
              <a:t>and our triangle wave implementation could be improved</a:t>
            </a:r>
            <a:endParaRPr lang="en-US" sz="8800" b="1" dirty="0">
              <a:latin typeface="Montserrat Light" charset="0"/>
              <a:ea typeface="Montserrat Light" charset="0"/>
              <a:cs typeface="Montserrat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522027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Oval 35"/>
          <p:cNvSpPr/>
          <p:nvPr/>
        </p:nvSpPr>
        <p:spPr>
          <a:xfrm>
            <a:off x="12455834" y="5149916"/>
            <a:ext cx="1601804" cy="16018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en Sans Regular" charset="0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12450797" y="9103049"/>
            <a:ext cx="1601804" cy="16018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en Sans Regular" charset="0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12455834" y="3279535"/>
            <a:ext cx="1601804" cy="160180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Open Sans Regular" charset="0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12454510" y="7105628"/>
            <a:ext cx="1601804" cy="160180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en Sans Regular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792071-B06B-4316-BD87-D895C54C2AD5}"/>
              </a:ext>
            </a:extLst>
          </p:cNvPr>
          <p:cNvSpPr txBox="1"/>
          <p:nvPr/>
        </p:nvSpPr>
        <p:spPr>
          <a:xfrm>
            <a:off x="14576545" y="2745088"/>
            <a:ext cx="7087005" cy="74683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5000"/>
              </a:lnSpc>
            </a:pPr>
            <a:r>
              <a:rPr lang="en-US" sz="4800" b="1" dirty="0">
                <a:solidFill>
                  <a:schemeClr val="tx2"/>
                </a:solidFill>
                <a:latin typeface="Montserrat Bold" charset="0"/>
                <a:ea typeface="Montserrat Bold" charset="0"/>
                <a:cs typeface="Montserrat Bold" charset="0"/>
              </a:rPr>
              <a:t>Coding in Assembly</a:t>
            </a:r>
          </a:p>
          <a:p>
            <a:pPr>
              <a:lnSpc>
                <a:spcPts val="15000"/>
              </a:lnSpc>
            </a:pPr>
            <a:r>
              <a:rPr lang="en-US" sz="4800" b="1" dirty="0">
                <a:solidFill>
                  <a:schemeClr val="tx2"/>
                </a:solidFill>
                <a:latin typeface="Montserrat Bold" charset="0"/>
                <a:ea typeface="Montserrat Bold" charset="0"/>
                <a:cs typeface="Montserrat Bold" charset="0"/>
              </a:rPr>
              <a:t>Creating Functional Drivers</a:t>
            </a:r>
          </a:p>
          <a:p>
            <a:pPr>
              <a:lnSpc>
                <a:spcPts val="15000"/>
              </a:lnSpc>
            </a:pPr>
            <a:r>
              <a:rPr lang="en-US" sz="4800" b="1" dirty="0">
                <a:solidFill>
                  <a:schemeClr val="tx2"/>
                </a:solidFill>
                <a:latin typeface="Montserrat Bold" charset="0"/>
                <a:ea typeface="Montserrat Bold" charset="0"/>
                <a:cs typeface="Montserrat Bold" charset="0"/>
              </a:rPr>
              <a:t>Designing User Interfaces</a:t>
            </a:r>
          </a:p>
          <a:p>
            <a:pPr>
              <a:lnSpc>
                <a:spcPts val="15000"/>
              </a:lnSpc>
            </a:pPr>
            <a:r>
              <a:rPr lang="en-US" sz="4800" b="1" dirty="0">
                <a:solidFill>
                  <a:schemeClr val="tx2"/>
                </a:solidFill>
                <a:latin typeface="Montserrat Bold" charset="0"/>
                <a:ea typeface="Montserrat Bold" charset="0"/>
                <a:cs typeface="Montserrat Bold" charset="0"/>
              </a:rPr>
              <a:t>Theory of Sound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BE7DF4-49E8-44E1-8F85-20A0B59FDAF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99536" y="9446751"/>
            <a:ext cx="914400" cy="914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317FD6F-6763-4B5B-B563-BE9F382CE77E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99536" y="3628910"/>
            <a:ext cx="914400" cy="9144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CD763FC-4642-480F-9AB1-615A49EA524D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99536" y="7506480"/>
            <a:ext cx="914400" cy="9144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82710B9-A785-4625-B0BC-CDA5666C3D38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6213" y="5564852"/>
            <a:ext cx="914400" cy="914400"/>
          </a:xfrm>
          <a:prstGeom prst="rect">
            <a:avLst/>
          </a:prstGeom>
        </p:spPr>
      </p:pic>
      <p:sp>
        <p:nvSpPr>
          <p:cNvPr id="18" name="Subtitle 2">
            <a:extLst>
              <a:ext uri="{FF2B5EF4-FFF2-40B4-BE49-F238E27FC236}">
                <a16:creationId xmlns:a16="http://schemas.microsoft.com/office/drawing/2014/main" id="{BB9D7F91-E55A-4305-870E-5E1C1235243D}"/>
              </a:ext>
            </a:extLst>
          </p:cNvPr>
          <p:cNvSpPr txBox="1">
            <a:spLocks/>
          </p:cNvSpPr>
          <p:nvPr/>
        </p:nvSpPr>
        <p:spPr>
          <a:xfrm>
            <a:off x="2656091" y="5755695"/>
            <a:ext cx="11658482" cy="1573831"/>
          </a:xfrm>
          <a:prstGeom prst="rect">
            <a:avLst/>
          </a:prstGeom>
        </p:spPr>
        <p:txBody>
          <a:bodyPr vert="horz" wrap="square" lIns="217490" tIns="108745" rIns="217490" bIns="1087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Aft>
                <a:spcPts val="2400"/>
              </a:spcAft>
            </a:pPr>
            <a:r>
              <a:rPr lang="en-US" sz="8800" b="1" dirty="0">
                <a:latin typeface="Montserrat Light" charset="0"/>
                <a:ea typeface="Montserrat Light" charset="0"/>
                <a:cs typeface="Montserrat Light" charset="0"/>
              </a:rPr>
              <a:t>Skills Practiced</a:t>
            </a:r>
          </a:p>
        </p:txBody>
      </p:sp>
    </p:spTree>
    <p:extLst>
      <p:ext uri="{BB962C8B-B14F-4D97-AF65-F5344CB8AC3E}">
        <p14:creationId xmlns:p14="http://schemas.microsoft.com/office/powerpoint/2010/main" val="2481874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713A852-33A5-4DBA-807E-963DD2D2AD4F}"/>
              </a:ext>
            </a:extLst>
          </p:cNvPr>
          <p:cNvSpPr txBox="1">
            <a:spLocks/>
          </p:cNvSpPr>
          <p:nvPr/>
        </p:nvSpPr>
        <p:spPr>
          <a:xfrm>
            <a:off x="2423450" y="3331873"/>
            <a:ext cx="19530750" cy="7052254"/>
          </a:xfrm>
          <a:prstGeom prst="rect">
            <a:avLst/>
          </a:prstGeom>
        </p:spPr>
        <p:txBody>
          <a:bodyPr vert="horz" wrap="square" lIns="217490" tIns="108745" rIns="217490" bIns="1087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Aft>
                <a:spcPts val="2400"/>
              </a:spcAft>
            </a:pPr>
            <a:r>
              <a:rPr lang="en-US" sz="8800" b="1" dirty="0">
                <a:latin typeface="Montserrat Light" charset="0"/>
                <a:ea typeface="Montserrat Light" charset="0"/>
                <a:cs typeface="Montserrat Light" charset="0"/>
              </a:rPr>
              <a:t>Future of Stratum</a:t>
            </a:r>
          </a:p>
          <a:p>
            <a:pPr algn="l">
              <a:lnSpc>
                <a:spcPct val="100000"/>
              </a:lnSpc>
              <a:spcAft>
                <a:spcPts val="2400"/>
              </a:spcAft>
            </a:pPr>
            <a:endParaRPr lang="en-US" b="1" dirty="0">
              <a:latin typeface="Montserrat Light" charset="0"/>
              <a:ea typeface="Montserrat Light" charset="0"/>
              <a:cs typeface="Montserrat Light" charset="0"/>
            </a:endParaRPr>
          </a:p>
          <a:p>
            <a:pPr marL="1143000" indent="-1143000" algn="l">
              <a:lnSpc>
                <a:spcPct val="100000"/>
              </a:lnSpc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6600" dirty="0">
                <a:latin typeface="Montserrat Light" charset="0"/>
                <a:ea typeface="Montserrat Light" charset="0"/>
                <a:cs typeface="Montserrat Light" charset="0"/>
              </a:rPr>
              <a:t>Increased variety in instruments and wave forms</a:t>
            </a:r>
          </a:p>
          <a:p>
            <a:pPr marL="1143000" indent="-1143000" algn="l">
              <a:lnSpc>
                <a:spcPct val="100000"/>
              </a:lnSpc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6600" dirty="0">
                <a:latin typeface="Montserrat Light" charset="0"/>
                <a:ea typeface="Montserrat Light" charset="0"/>
                <a:cs typeface="Montserrat Light" charset="0"/>
              </a:rPr>
              <a:t>Modulation effects to manipulate shape of waves</a:t>
            </a:r>
          </a:p>
          <a:p>
            <a:pPr marL="1143000" indent="-1143000" algn="l">
              <a:lnSpc>
                <a:spcPct val="100000"/>
              </a:lnSpc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sz="6600" dirty="0">
                <a:latin typeface="Montserrat Light" charset="0"/>
                <a:ea typeface="Montserrat Light" charset="0"/>
                <a:cs typeface="Montserrat Light" charset="0"/>
              </a:rPr>
              <a:t>Advanced layering options</a:t>
            </a:r>
          </a:p>
        </p:txBody>
      </p:sp>
    </p:spTree>
    <p:extLst>
      <p:ext uri="{BB962C8B-B14F-4D97-AF65-F5344CB8AC3E}">
        <p14:creationId xmlns:p14="http://schemas.microsoft.com/office/powerpoint/2010/main" val="3820255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7254A03E-5F66-47A9-95FF-3A1252A98256}"/>
              </a:ext>
            </a:extLst>
          </p:cNvPr>
          <p:cNvSpPr txBox="1">
            <a:spLocks/>
          </p:cNvSpPr>
          <p:nvPr/>
        </p:nvSpPr>
        <p:spPr>
          <a:xfrm>
            <a:off x="5984175" y="6071084"/>
            <a:ext cx="12409300" cy="1573831"/>
          </a:xfrm>
          <a:prstGeom prst="rect">
            <a:avLst/>
          </a:prstGeom>
        </p:spPr>
        <p:txBody>
          <a:bodyPr vert="horz" wrap="square" lIns="217490" tIns="108745" rIns="217490" bIns="1087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Aft>
                <a:spcPts val="2400"/>
              </a:spcAft>
            </a:pPr>
            <a:r>
              <a:rPr lang="en-US" sz="8800" dirty="0">
                <a:latin typeface="Montserrat Light" charset="0"/>
                <a:ea typeface="Montserrat Light" charset="0"/>
                <a:cs typeface="Montserrat Light" charset="0"/>
              </a:rPr>
              <a:t>You asked, </a:t>
            </a:r>
            <a:r>
              <a:rPr lang="en-US" sz="8800" b="1" dirty="0">
                <a:latin typeface="Montserrat Light" charset="0"/>
                <a:ea typeface="Montserrat Light" charset="0"/>
                <a:cs typeface="Montserrat Light" charset="0"/>
              </a:rPr>
              <a:t>we delivered!</a:t>
            </a:r>
          </a:p>
        </p:txBody>
      </p:sp>
    </p:spTree>
    <p:extLst>
      <p:ext uri="{BB962C8B-B14F-4D97-AF65-F5344CB8AC3E}">
        <p14:creationId xmlns:p14="http://schemas.microsoft.com/office/powerpoint/2010/main" val="3928881648"/>
      </p:ext>
    </p:extLst>
  </p:cSld>
  <p:clrMapOvr>
    <a:masterClrMapping/>
  </p:clrMapOvr>
  <p:transition advClick="0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ED49B1C-4EE9-49FB-921E-5DFA53D02CDD}"/>
              </a:ext>
            </a:extLst>
          </p:cNvPr>
          <p:cNvSpPr txBox="1">
            <a:spLocks/>
          </p:cNvSpPr>
          <p:nvPr/>
        </p:nvSpPr>
        <p:spPr>
          <a:xfrm>
            <a:off x="3575767" y="4716867"/>
            <a:ext cx="17226116" cy="4282265"/>
          </a:xfrm>
          <a:prstGeom prst="rect">
            <a:avLst/>
          </a:prstGeom>
        </p:spPr>
        <p:txBody>
          <a:bodyPr vert="horz" wrap="square" lIns="217490" tIns="108745" rIns="217490" bIns="1087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Aft>
                <a:spcPts val="2400"/>
              </a:spcAft>
            </a:pPr>
            <a:r>
              <a:rPr lang="en-US" sz="8800" dirty="0">
                <a:latin typeface="Montserrat Light" charset="0"/>
                <a:ea typeface="Montserrat Light" charset="0"/>
                <a:cs typeface="Montserrat Light" charset="0"/>
              </a:rPr>
              <a:t>We will be demonstrating </a:t>
            </a:r>
            <a:r>
              <a:rPr lang="en-US" sz="8800" b="1" dirty="0">
                <a:latin typeface="Montserrat Light" charset="0"/>
                <a:ea typeface="Montserrat Light" charset="0"/>
                <a:cs typeface="Montserrat Light" charset="0"/>
              </a:rPr>
              <a:t>each instrument</a:t>
            </a:r>
            <a:r>
              <a:rPr lang="en-US" sz="8800" dirty="0">
                <a:latin typeface="Montserrat Light" charset="0"/>
                <a:ea typeface="Montserrat Light" charset="0"/>
                <a:cs typeface="Montserrat Light" charset="0"/>
              </a:rPr>
              <a:t>, </a:t>
            </a:r>
            <a:r>
              <a:rPr lang="en-US" sz="8800" b="1" dirty="0">
                <a:latin typeface="Montserrat Light" charset="0"/>
                <a:ea typeface="Montserrat Light" charset="0"/>
                <a:cs typeface="Montserrat Light" charset="0"/>
              </a:rPr>
              <a:t>multiple octaves</a:t>
            </a:r>
            <a:r>
              <a:rPr lang="en-US" sz="8800" dirty="0">
                <a:latin typeface="Montserrat Light" charset="0"/>
                <a:ea typeface="Montserrat Light" charset="0"/>
                <a:cs typeface="Montserrat Light" charset="0"/>
              </a:rPr>
              <a:t>, and </a:t>
            </a:r>
            <a:r>
              <a:rPr lang="en-US" sz="8800" b="1" dirty="0">
                <a:latin typeface="Montserrat Light" charset="0"/>
                <a:ea typeface="Montserrat Light" charset="0"/>
                <a:cs typeface="Montserrat Light" charset="0"/>
              </a:rPr>
              <a:t>layer functionality.</a:t>
            </a:r>
          </a:p>
        </p:txBody>
      </p:sp>
    </p:spTree>
    <p:extLst>
      <p:ext uri="{BB962C8B-B14F-4D97-AF65-F5344CB8AC3E}">
        <p14:creationId xmlns:p14="http://schemas.microsoft.com/office/powerpoint/2010/main" val="3675809043"/>
      </p:ext>
    </p:extLst>
  </p:cSld>
  <p:clrMapOvr>
    <a:masterClrMapping/>
  </p:clrMapOvr>
  <p:transition advClick="0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F69356F-54B4-45FA-ABB9-3D260C19E7A8}"/>
              </a:ext>
            </a:extLst>
          </p:cNvPr>
          <p:cNvSpPr txBox="1">
            <a:spLocks/>
          </p:cNvSpPr>
          <p:nvPr/>
        </p:nvSpPr>
        <p:spPr>
          <a:xfrm>
            <a:off x="9327071" y="6076817"/>
            <a:ext cx="5723508" cy="1573831"/>
          </a:xfrm>
          <a:prstGeom prst="rect">
            <a:avLst/>
          </a:prstGeom>
        </p:spPr>
        <p:txBody>
          <a:bodyPr vert="horz" wrap="square" lIns="217490" tIns="108745" rIns="217490" bIns="108745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Aft>
                <a:spcPts val="2400"/>
              </a:spcAft>
            </a:pPr>
            <a:r>
              <a:rPr lang="en-US" sz="8800" b="1" dirty="0">
                <a:latin typeface="Montserrat Light" charset="0"/>
                <a:ea typeface="Montserrat Light" charset="0"/>
                <a:cs typeface="Montserrat Light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085186735"/>
      </p:ext>
    </p:extLst>
  </p:cSld>
  <p:clrMapOvr>
    <a:masterClrMapping/>
  </p:clrMapOvr>
  <p:transition advClick="0"/>
</p:sld>
</file>

<file path=ppt/theme/theme1.xml><?xml version="1.0" encoding="utf-8"?>
<a:theme xmlns:a="http://schemas.openxmlformats.org/drawingml/2006/main" name="Default Theme">
  <a:themeElements>
    <a:clrScheme name="Pitch Deck Light">
      <a:dk1>
        <a:srgbClr val="737572"/>
      </a:dk1>
      <a:lt1>
        <a:srgbClr val="FFFFFF"/>
      </a:lt1>
      <a:dk2>
        <a:srgbClr val="445469"/>
      </a:dk2>
      <a:lt2>
        <a:srgbClr val="FFFFFF"/>
      </a:lt2>
      <a:accent1>
        <a:srgbClr val="0E80C9"/>
      </a:accent1>
      <a:accent2>
        <a:srgbClr val="119CF4"/>
      </a:accent2>
      <a:accent3>
        <a:srgbClr val="445469"/>
      </a:accent3>
      <a:accent4>
        <a:srgbClr val="8AC153"/>
      </a:accent4>
      <a:accent5>
        <a:srgbClr val="BAEF69"/>
      </a:accent5>
      <a:accent6>
        <a:srgbClr val="A9A8AB"/>
      </a:accent6>
      <a:hlink>
        <a:srgbClr val="0E80C9"/>
      </a:hlink>
      <a:folHlink>
        <a:srgbClr val="0EA3FF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41460</TotalTime>
  <Words>508</Words>
  <Application>Microsoft Office PowerPoint</Application>
  <PresentationFormat>Custom</PresentationFormat>
  <Paragraphs>115</Paragraphs>
  <Slides>19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Montserrat</vt:lpstr>
      <vt:lpstr>Montserrat Bold</vt:lpstr>
      <vt:lpstr>Montserrat Light</vt:lpstr>
      <vt:lpstr>Montserrat Ultra Light</vt:lpstr>
      <vt:lpstr>Open Sans Light</vt:lpstr>
      <vt:lpstr>Open Sans Regular</vt:lpstr>
      <vt:lpstr>Roboto Regular</vt:lpstr>
      <vt:lpstr>Arial</vt:lpstr>
      <vt:lpstr>Calibri</vt:lpstr>
      <vt:lpstr>Default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Premium Presentations</dc:title>
  <dc:subject/>
  <dc:creator>Jared</dc:creator>
  <cp:keywords/>
  <dc:description/>
  <cp:lastModifiedBy>Jared Grimes</cp:lastModifiedBy>
  <cp:revision>6420</cp:revision>
  <cp:lastPrinted>2018-04-10T20:42:26Z</cp:lastPrinted>
  <dcterms:created xsi:type="dcterms:W3CDTF">2014-11-12T21:47:38Z</dcterms:created>
  <dcterms:modified xsi:type="dcterms:W3CDTF">2018-04-14T18:38:33Z</dcterms:modified>
  <cp:category/>
</cp:coreProperties>
</file>